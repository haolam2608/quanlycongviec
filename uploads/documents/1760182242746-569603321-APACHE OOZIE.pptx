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Red Hat Display" panose="020B0604020202020204" charset="0"/>
      <p:regular r:id="rId19"/>
    </p:embeddedFont>
    <p:embeddedFont>
      <p:font typeface="Red Hat Display Bold" panose="020B0604020202020204" charset="0"/>
      <p:regular r:id="rId20"/>
    </p:embeddedFont>
    <p:embeddedFont>
      <p:font typeface="Roboto Slab" pitchFamily="2"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10" Type="http://schemas.openxmlformats.org/officeDocument/2006/relationships/image" Target="../media/image12.pn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10"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10" Type="http://schemas.openxmlformats.org/officeDocument/2006/relationships/image" Target="../media/image14.png"/><Relationship Id="rId4" Type="http://schemas.openxmlformats.org/officeDocument/2006/relationships/image" Target="../media/image5.pn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svg"/><Relationship Id="rId3" Type="http://schemas.openxmlformats.org/officeDocument/2006/relationships/image" Target="../media/image16.svg"/><Relationship Id="rId7" Type="http://schemas.openxmlformats.org/officeDocument/2006/relationships/image" Target="../media/image2.svg"/><Relationship Id="rId12" Type="http://schemas.openxmlformats.org/officeDocument/2006/relationships/image" Target="../media/image9.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8.svg"/><Relationship Id="rId5" Type="http://schemas.openxmlformats.org/officeDocument/2006/relationships/image" Target="../media/image18.svg"/><Relationship Id="rId10" Type="http://schemas.openxmlformats.org/officeDocument/2006/relationships/image" Target="../media/image7.png"/><Relationship Id="rId4" Type="http://schemas.openxmlformats.org/officeDocument/2006/relationships/image" Target="../media/image17.png"/><Relationship Id="rId9" Type="http://schemas.openxmlformats.org/officeDocument/2006/relationships/image" Target="../media/image6.sv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10"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21.png"/><Relationship Id="rId5" Type="http://schemas.openxmlformats.org/officeDocument/2006/relationships/image" Target="../media/image6.svg"/><Relationship Id="rId10"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sv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Freeform 2"/>
          <p:cNvSpPr/>
          <p:nvPr/>
        </p:nvSpPr>
        <p:spPr>
          <a:xfrm>
            <a:off x="8760629" y="-2095015"/>
            <a:ext cx="10960234" cy="7472887"/>
          </a:xfrm>
          <a:custGeom>
            <a:avLst/>
            <a:gdLst/>
            <a:ahLst/>
            <a:cxnLst/>
            <a:rect l="l" t="t" r="r" b="b"/>
            <a:pathLst>
              <a:path w="10960234" h="7472887">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a:off x="9868185" y="2136222"/>
            <a:ext cx="6925852" cy="6014556"/>
          </a:xfrm>
          <a:custGeom>
            <a:avLst/>
            <a:gdLst/>
            <a:ahLst/>
            <a:cxnLst/>
            <a:rect l="l" t="t" r="r" b="b"/>
            <a:pathLst>
              <a:path w="6925852" h="6014556">
                <a:moveTo>
                  <a:pt x="0" y="0"/>
                </a:moveTo>
                <a:lnTo>
                  <a:pt x="6925852" y="0"/>
                </a:lnTo>
                <a:lnTo>
                  <a:pt x="6925852"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635325">
            <a:off x="-1336143" y="6923321"/>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sp>
      <p:sp>
        <p:nvSpPr>
          <p:cNvPr id="5" name="Freeform 5"/>
          <p:cNvSpPr/>
          <p:nvPr/>
        </p:nvSpPr>
        <p:spPr>
          <a:xfrm rot="-226878">
            <a:off x="-216283" y="847655"/>
            <a:ext cx="4576141" cy="2579280"/>
          </a:xfrm>
          <a:custGeom>
            <a:avLst/>
            <a:gdLst/>
            <a:ahLst/>
            <a:cxnLst/>
            <a:rect l="l" t="t" r="r" b="b"/>
            <a:pathLst>
              <a:path w="4576141" h="2579280">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rot="2830696">
            <a:off x="12315724" y="82296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1537393" y="5377872"/>
            <a:ext cx="6697246" cy="1631380"/>
          </a:xfrm>
          <a:custGeom>
            <a:avLst/>
            <a:gdLst/>
            <a:ahLst/>
            <a:cxnLst/>
            <a:rect l="l" t="t" r="r" b="b"/>
            <a:pathLst>
              <a:path w="6697246" h="1631380">
                <a:moveTo>
                  <a:pt x="0" y="0"/>
                </a:moveTo>
                <a:lnTo>
                  <a:pt x="6697245" y="0"/>
                </a:lnTo>
                <a:lnTo>
                  <a:pt x="6697245" y="1631381"/>
                </a:lnTo>
                <a:lnTo>
                  <a:pt x="0" y="1631381"/>
                </a:lnTo>
                <a:lnTo>
                  <a:pt x="0" y="0"/>
                </a:lnTo>
                <a:close/>
              </a:path>
            </a:pathLst>
          </a:custGeom>
          <a:blipFill>
            <a:blip r:embed="rId12"/>
            <a:stretch>
              <a:fillRect/>
            </a:stretch>
          </a:blipFill>
        </p:spPr>
      </p:sp>
      <p:sp>
        <p:nvSpPr>
          <p:cNvPr id="8" name="TextBox 8"/>
          <p:cNvSpPr txBox="1"/>
          <p:nvPr/>
        </p:nvSpPr>
        <p:spPr>
          <a:xfrm>
            <a:off x="1537393" y="4274402"/>
            <a:ext cx="8114734" cy="1103470"/>
          </a:xfrm>
          <a:prstGeom prst="rect">
            <a:avLst/>
          </a:prstGeom>
        </p:spPr>
        <p:txBody>
          <a:bodyPr lIns="0" tIns="0" rIns="0" bIns="0" rtlCol="0" anchor="t">
            <a:spAutoFit/>
          </a:bodyPr>
          <a:lstStyle/>
          <a:p>
            <a:pPr algn="l">
              <a:lnSpc>
                <a:spcPts val="8800"/>
              </a:lnSpc>
            </a:pPr>
            <a:r>
              <a:rPr lang="en-US" sz="7074" b="1">
                <a:solidFill>
                  <a:srgbClr val="2D2261"/>
                </a:solidFill>
                <a:latin typeface="Red Hat Display Bold"/>
                <a:ea typeface="Red Hat Display Bold"/>
                <a:cs typeface="Red Hat Display Bold"/>
                <a:sym typeface="Red Hat Display Bold"/>
              </a:rPr>
              <a:t>APACHE OOZIE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432579" y="1197431"/>
            <a:ext cx="8994142"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Tổng quan về Apache Oozie</a:t>
            </a:r>
          </a:p>
        </p:txBody>
      </p:sp>
      <p:grpSp>
        <p:nvGrpSpPr>
          <p:cNvPr id="3" name="Group 3"/>
          <p:cNvGrpSpPr/>
          <p:nvPr/>
        </p:nvGrpSpPr>
        <p:grpSpPr>
          <a:xfrm>
            <a:off x="2281895" y="2529972"/>
            <a:ext cx="13280299" cy="1866815"/>
            <a:chOff x="0" y="0"/>
            <a:chExt cx="3497692" cy="491672"/>
          </a:xfrm>
        </p:grpSpPr>
        <p:sp>
          <p:nvSpPr>
            <p:cNvPr id="4" name="Freeform 4"/>
            <p:cNvSpPr/>
            <p:nvPr/>
          </p:nvSpPr>
          <p:spPr>
            <a:xfrm>
              <a:off x="0" y="0"/>
              <a:ext cx="3497692" cy="491672"/>
            </a:xfrm>
            <a:custGeom>
              <a:avLst/>
              <a:gdLst/>
              <a:ahLst/>
              <a:cxnLst/>
              <a:rect l="l" t="t" r="r" b="b"/>
              <a:pathLst>
                <a:path w="3497692" h="491672">
                  <a:moveTo>
                    <a:pt x="17489" y="0"/>
                  </a:moveTo>
                  <a:lnTo>
                    <a:pt x="3480203" y="0"/>
                  </a:lnTo>
                  <a:cubicBezTo>
                    <a:pt x="3484842" y="0"/>
                    <a:pt x="3489290" y="1843"/>
                    <a:pt x="3492569" y="5122"/>
                  </a:cubicBezTo>
                  <a:cubicBezTo>
                    <a:pt x="3495849" y="8402"/>
                    <a:pt x="3497692" y="12851"/>
                    <a:pt x="3497692" y="17489"/>
                  </a:cubicBezTo>
                  <a:lnTo>
                    <a:pt x="3497692" y="474183"/>
                  </a:lnTo>
                  <a:cubicBezTo>
                    <a:pt x="3497692" y="478821"/>
                    <a:pt x="3495849" y="483269"/>
                    <a:pt x="3492569" y="486549"/>
                  </a:cubicBezTo>
                  <a:cubicBezTo>
                    <a:pt x="3489290" y="489829"/>
                    <a:pt x="3484842" y="491672"/>
                    <a:pt x="3480203" y="491672"/>
                  </a:cubicBezTo>
                  <a:lnTo>
                    <a:pt x="17489" y="491672"/>
                  </a:lnTo>
                  <a:cubicBezTo>
                    <a:pt x="12851" y="491672"/>
                    <a:pt x="8402" y="489829"/>
                    <a:pt x="5122" y="486549"/>
                  </a:cubicBezTo>
                  <a:cubicBezTo>
                    <a:pt x="1843" y="483269"/>
                    <a:pt x="0" y="478821"/>
                    <a:pt x="0" y="474183"/>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5" name="TextBox 5"/>
            <p:cNvSpPr txBox="1"/>
            <p:nvPr/>
          </p:nvSpPr>
          <p:spPr>
            <a:xfrm>
              <a:off x="0" y="-47625"/>
              <a:ext cx="3497692" cy="539297"/>
            </a:xfrm>
            <a:prstGeom prst="rect">
              <a:avLst/>
            </a:prstGeom>
          </p:spPr>
          <p:txBody>
            <a:bodyPr lIns="50800" tIns="50800" rIns="50800" bIns="50800" rtlCol="0" anchor="ctr"/>
            <a:lstStyle/>
            <a:p>
              <a:pPr algn="ctr">
                <a:lnSpc>
                  <a:spcPts val="3032"/>
                </a:lnSpc>
              </a:pPr>
              <a:endParaRPr/>
            </a:p>
          </p:txBody>
        </p:sp>
      </p:grpSp>
      <p:grpSp>
        <p:nvGrpSpPr>
          <p:cNvPr id="6" name="Group 6"/>
          <p:cNvGrpSpPr/>
          <p:nvPr/>
        </p:nvGrpSpPr>
        <p:grpSpPr>
          <a:xfrm>
            <a:off x="2281895" y="4854781"/>
            <a:ext cx="13280299" cy="1866815"/>
            <a:chOff x="0" y="0"/>
            <a:chExt cx="3497692" cy="491672"/>
          </a:xfrm>
        </p:grpSpPr>
        <p:sp>
          <p:nvSpPr>
            <p:cNvPr id="7" name="Freeform 7"/>
            <p:cNvSpPr/>
            <p:nvPr/>
          </p:nvSpPr>
          <p:spPr>
            <a:xfrm>
              <a:off x="0" y="0"/>
              <a:ext cx="3497692" cy="491672"/>
            </a:xfrm>
            <a:custGeom>
              <a:avLst/>
              <a:gdLst/>
              <a:ahLst/>
              <a:cxnLst/>
              <a:rect l="l" t="t" r="r" b="b"/>
              <a:pathLst>
                <a:path w="3497692" h="491672">
                  <a:moveTo>
                    <a:pt x="17489" y="0"/>
                  </a:moveTo>
                  <a:lnTo>
                    <a:pt x="3480203" y="0"/>
                  </a:lnTo>
                  <a:cubicBezTo>
                    <a:pt x="3484842" y="0"/>
                    <a:pt x="3489290" y="1843"/>
                    <a:pt x="3492569" y="5122"/>
                  </a:cubicBezTo>
                  <a:cubicBezTo>
                    <a:pt x="3495849" y="8402"/>
                    <a:pt x="3497692" y="12851"/>
                    <a:pt x="3497692" y="17489"/>
                  </a:cubicBezTo>
                  <a:lnTo>
                    <a:pt x="3497692" y="474183"/>
                  </a:lnTo>
                  <a:cubicBezTo>
                    <a:pt x="3497692" y="478821"/>
                    <a:pt x="3495849" y="483269"/>
                    <a:pt x="3492569" y="486549"/>
                  </a:cubicBezTo>
                  <a:cubicBezTo>
                    <a:pt x="3489290" y="489829"/>
                    <a:pt x="3484842" y="491672"/>
                    <a:pt x="3480203" y="491672"/>
                  </a:cubicBezTo>
                  <a:lnTo>
                    <a:pt x="17489" y="491672"/>
                  </a:lnTo>
                  <a:cubicBezTo>
                    <a:pt x="12851" y="491672"/>
                    <a:pt x="8402" y="489829"/>
                    <a:pt x="5122" y="486549"/>
                  </a:cubicBezTo>
                  <a:cubicBezTo>
                    <a:pt x="1843" y="483269"/>
                    <a:pt x="0" y="478821"/>
                    <a:pt x="0" y="474183"/>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8" name="TextBox 8"/>
            <p:cNvSpPr txBox="1"/>
            <p:nvPr/>
          </p:nvSpPr>
          <p:spPr>
            <a:xfrm>
              <a:off x="0" y="-47625"/>
              <a:ext cx="3497692" cy="539297"/>
            </a:xfrm>
            <a:prstGeom prst="rect">
              <a:avLst/>
            </a:prstGeom>
          </p:spPr>
          <p:txBody>
            <a:bodyPr lIns="50800" tIns="50800" rIns="50800" bIns="50800" rtlCol="0" anchor="ctr"/>
            <a:lstStyle/>
            <a:p>
              <a:pPr algn="ctr">
                <a:lnSpc>
                  <a:spcPts val="3032"/>
                </a:lnSpc>
              </a:pPr>
              <a:endParaRPr/>
            </a:p>
          </p:txBody>
        </p:sp>
      </p:grpSp>
      <p:grpSp>
        <p:nvGrpSpPr>
          <p:cNvPr id="9" name="Group 9"/>
          <p:cNvGrpSpPr/>
          <p:nvPr/>
        </p:nvGrpSpPr>
        <p:grpSpPr>
          <a:xfrm>
            <a:off x="2281895" y="7178796"/>
            <a:ext cx="13280299" cy="1866815"/>
            <a:chOff x="0" y="0"/>
            <a:chExt cx="3497692" cy="491672"/>
          </a:xfrm>
        </p:grpSpPr>
        <p:sp>
          <p:nvSpPr>
            <p:cNvPr id="10" name="Freeform 10"/>
            <p:cNvSpPr/>
            <p:nvPr/>
          </p:nvSpPr>
          <p:spPr>
            <a:xfrm>
              <a:off x="0" y="0"/>
              <a:ext cx="3497692" cy="491672"/>
            </a:xfrm>
            <a:custGeom>
              <a:avLst/>
              <a:gdLst/>
              <a:ahLst/>
              <a:cxnLst/>
              <a:rect l="l" t="t" r="r" b="b"/>
              <a:pathLst>
                <a:path w="3497692" h="491672">
                  <a:moveTo>
                    <a:pt x="17489" y="0"/>
                  </a:moveTo>
                  <a:lnTo>
                    <a:pt x="3480203" y="0"/>
                  </a:lnTo>
                  <a:cubicBezTo>
                    <a:pt x="3484842" y="0"/>
                    <a:pt x="3489290" y="1843"/>
                    <a:pt x="3492569" y="5122"/>
                  </a:cubicBezTo>
                  <a:cubicBezTo>
                    <a:pt x="3495849" y="8402"/>
                    <a:pt x="3497692" y="12851"/>
                    <a:pt x="3497692" y="17489"/>
                  </a:cubicBezTo>
                  <a:lnTo>
                    <a:pt x="3497692" y="474183"/>
                  </a:lnTo>
                  <a:cubicBezTo>
                    <a:pt x="3497692" y="478821"/>
                    <a:pt x="3495849" y="483269"/>
                    <a:pt x="3492569" y="486549"/>
                  </a:cubicBezTo>
                  <a:cubicBezTo>
                    <a:pt x="3489290" y="489829"/>
                    <a:pt x="3484842" y="491672"/>
                    <a:pt x="3480203" y="491672"/>
                  </a:cubicBezTo>
                  <a:lnTo>
                    <a:pt x="17489" y="491672"/>
                  </a:lnTo>
                  <a:cubicBezTo>
                    <a:pt x="12851" y="491672"/>
                    <a:pt x="8402" y="489829"/>
                    <a:pt x="5122" y="486549"/>
                  </a:cubicBezTo>
                  <a:cubicBezTo>
                    <a:pt x="1843" y="483269"/>
                    <a:pt x="0" y="478821"/>
                    <a:pt x="0" y="474183"/>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11" name="TextBox 11"/>
            <p:cNvSpPr txBox="1"/>
            <p:nvPr/>
          </p:nvSpPr>
          <p:spPr>
            <a:xfrm>
              <a:off x="0" y="-47625"/>
              <a:ext cx="3497692" cy="539297"/>
            </a:xfrm>
            <a:prstGeom prst="rect">
              <a:avLst/>
            </a:prstGeom>
          </p:spPr>
          <p:txBody>
            <a:bodyPr lIns="50800" tIns="50800" rIns="50800" bIns="50800" rtlCol="0" anchor="ctr"/>
            <a:lstStyle/>
            <a:p>
              <a:pPr algn="ctr">
                <a:lnSpc>
                  <a:spcPts val="3032"/>
                </a:lnSpc>
              </a:pPr>
              <a:endParaRPr/>
            </a:p>
          </p:txBody>
        </p:sp>
      </p:grpSp>
      <p:sp>
        <p:nvSpPr>
          <p:cNvPr id="12" name="TextBox 12"/>
          <p:cNvSpPr txBox="1"/>
          <p:nvPr/>
        </p:nvSpPr>
        <p:spPr>
          <a:xfrm>
            <a:off x="2561139" y="2830755"/>
            <a:ext cx="12459074" cy="1234440"/>
          </a:xfrm>
          <a:prstGeom prst="rect">
            <a:avLst/>
          </a:prstGeom>
        </p:spPr>
        <p:txBody>
          <a:bodyPr lIns="0" tIns="0" rIns="0" bIns="0" rtlCol="0" anchor="t">
            <a:spAutoFit/>
          </a:bodyPr>
          <a:lstStyle/>
          <a:p>
            <a:pPr algn="just">
              <a:lnSpc>
                <a:spcPts val="3359"/>
              </a:lnSpc>
            </a:pPr>
            <a:r>
              <a:rPr lang="en-US" sz="2400" b="1">
                <a:solidFill>
                  <a:srgbClr val="FBFCFE"/>
                </a:solidFill>
                <a:latin typeface="Red Hat Display Bold"/>
                <a:ea typeface="Red Hat Display Bold"/>
                <a:cs typeface="Red Hat Display Bold"/>
                <a:sym typeface="Red Hat Display Bold"/>
              </a:rPr>
              <a:t>Apache Oozie là hệ thống lập lịch và quản lý luồng công việc (workflow scheduler) mã nguồn mở cho Hadoop, cho phép định nghĩa và thực thi các luồng công việc phức tạp dạng đồ thị DAG (chạy tuần tự, song song hoặc theo điều kiện).</a:t>
            </a:r>
          </a:p>
        </p:txBody>
      </p:sp>
      <p:sp>
        <p:nvSpPr>
          <p:cNvPr id="13" name="TextBox 13"/>
          <p:cNvSpPr txBox="1"/>
          <p:nvPr/>
        </p:nvSpPr>
        <p:spPr>
          <a:xfrm>
            <a:off x="2725806" y="5361469"/>
            <a:ext cx="12294407" cy="815340"/>
          </a:xfrm>
          <a:prstGeom prst="rect">
            <a:avLst/>
          </a:prstGeom>
        </p:spPr>
        <p:txBody>
          <a:bodyPr lIns="0" tIns="0" rIns="0" bIns="0" rtlCol="0" anchor="t">
            <a:spAutoFit/>
          </a:bodyPr>
          <a:lstStyle/>
          <a:p>
            <a:pPr algn="just">
              <a:lnSpc>
                <a:spcPts val="3359"/>
              </a:lnSpc>
            </a:pPr>
            <a:r>
              <a:rPr lang="en-US" sz="2400" b="1">
                <a:solidFill>
                  <a:srgbClr val="FBFCFE"/>
                </a:solidFill>
                <a:latin typeface="Red Hat Display Bold"/>
                <a:ea typeface="Red Hat Display Bold"/>
                <a:cs typeface="Red Hat Display Bold"/>
                <a:sym typeface="Red Hat Display Bold"/>
              </a:rPr>
              <a:t>Được viết bằng Java và JavaScript, chạy trên JVM, phân phối theo Apache License 2.0, phiên bản ổn định mới nhất là 5.2.1 (26/02/2021).</a:t>
            </a:r>
          </a:p>
        </p:txBody>
      </p:sp>
      <p:sp>
        <p:nvSpPr>
          <p:cNvPr id="14" name="TextBox 14"/>
          <p:cNvSpPr txBox="1"/>
          <p:nvPr/>
        </p:nvSpPr>
        <p:spPr>
          <a:xfrm>
            <a:off x="2725806" y="7475934"/>
            <a:ext cx="12294407" cy="1234440"/>
          </a:xfrm>
          <a:prstGeom prst="rect">
            <a:avLst/>
          </a:prstGeom>
        </p:spPr>
        <p:txBody>
          <a:bodyPr lIns="0" tIns="0" rIns="0" bIns="0" rtlCol="0" anchor="t">
            <a:spAutoFit/>
          </a:bodyPr>
          <a:lstStyle/>
          <a:p>
            <a:pPr algn="just">
              <a:lnSpc>
                <a:spcPts val="3359"/>
              </a:lnSpc>
            </a:pPr>
            <a:r>
              <a:rPr lang="en-US" sz="2400" b="1">
                <a:solidFill>
                  <a:srgbClr val="FBFCFE"/>
                </a:solidFill>
                <a:latin typeface="Red Hat Display Bold"/>
                <a:ea typeface="Red Hat Display Bold"/>
                <a:cs typeface="Red Hat Display Bold"/>
                <a:sym typeface="Red Hat Display Bold"/>
              </a:rPr>
              <a:t>Tích hợp chặt chẽ với các công cụ như YARN, MapReduce, Hive, Pig, Sqoop, hỗ trợ ETL, lập lịch theo thời gian hoặc dữ liệu, giúp tự động hóa quy trình và mở rộng xử lý dữ liệu lớn.</a:t>
            </a:r>
          </a:p>
        </p:txBody>
      </p:sp>
      <p:sp>
        <p:nvSpPr>
          <p:cNvPr id="15" name="Freeform 15"/>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16" name="Freeform 16"/>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17" name="Freeform 17"/>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8" name="Freeform 18"/>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64475" y="952500"/>
            <a:ext cx="9759051"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Tổng quan về Apache Oozie</a:t>
            </a:r>
          </a:p>
        </p:txBody>
      </p:sp>
      <p:grpSp>
        <p:nvGrpSpPr>
          <p:cNvPr id="3" name="Group 3"/>
          <p:cNvGrpSpPr/>
          <p:nvPr/>
        </p:nvGrpSpPr>
        <p:grpSpPr>
          <a:xfrm>
            <a:off x="2006992" y="2191109"/>
            <a:ext cx="5548182" cy="3391806"/>
            <a:chOff x="0" y="0"/>
            <a:chExt cx="1419132" cy="867567"/>
          </a:xfrm>
        </p:grpSpPr>
        <p:sp>
          <p:nvSpPr>
            <p:cNvPr id="4" name="Freeform 4"/>
            <p:cNvSpPr/>
            <p:nvPr/>
          </p:nvSpPr>
          <p:spPr>
            <a:xfrm>
              <a:off x="0" y="0"/>
              <a:ext cx="1419132" cy="867567"/>
            </a:xfrm>
            <a:custGeom>
              <a:avLst/>
              <a:gdLst/>
              <a:ahLst/>
              <a:cxnLst/>
              <a:rect l="l" t="t" r="r" b="b"/>
              <a:pathLst>
                <a:path w="1419132" h="867567">
                  <a:moveTo>
                    <a:pt x="41862" y="0"/>
                  </a:moveTo>
                  <a:lnTo>
                    <a:pt x="1377270" y="0"/>
                  </a:lnTo>
                  <a:cubicBezTo>
                    <a:pt x="1400390" y="0"/>
                    <a:pt x="1419132" y="18742"/>
                    <a:pt x="1419132" y="41862"/>
                  </a:cubicBezTo>
                  <a:lnTo>
                    <a:pt x="1419132" y="825705"/>
                  </a:lnTo>
                  <a:cubicBezTo>
                    <a:pt x="1419132" y="848825"/>
                    <a:pt x="1400390" y="867567"/>
                    <a:pt x="1377270" y="867567"/>
                  </a:cubicBezTo>
                  <a:lnTo>
                    <a:pt x="41862" y="867567"/>
                  </a:lnTo>
                  <a:cubicBezTo>
                    <a:pt x="18742" y="867567"/>
                    <a:pt x="0" y="848825"/>
                    <a:pt x="0" y="825705"/>
                  </a:cubicBezTo>
                  <a:lnTo>
                    <a:pt x="0" y="41862"/>
                  </a:lnTo>
                  <a:cubicBezTo>
                    <a:pt x="0" y="18742"/>
                    <a:pt x="18742" y="0"/>
                    <a:pt x="41862" y="0"/>
                  </a:cubicBezTo>
                  <a:close/>
                </a:path>
              </a:pathLst>
            </a:custGeom>
            <a:solidFill>
              <a:srgbClr val="5B7ABE"/>
            </a:solidFill>
          </p:spPr>
        </p:sp>
        <p:sp>
          <p:nvSpPr>
            <p:cNvPr id="5" name="TextBox 5"/>
            <p:cNvSpPr txBox="1"/>
            <p:nvPr/>
          </p:nvSpPr>
          <p:spPr>
            <a:xfrm>
              <a:off x="0" y="-47625"/>
              <a:ext cx="1419132" cy="915192"/>
            </a:xfrm>
            <a:prstGeom prst="rect">
              <a:avLst/>
            </a:prstGeom>
          </p:spPr>
          <p:txBody>
            <a:bodyPr lIns="50800" tIns="50800" rIns="50800" bIns="50800" rtlCol="0" anchor="ctr"/>
            <a:lstStyle/>
            <a:p>
              <a:pPr algn="ctr">
                <a:lnSpc>
                  <a:spcPts val="3032"/>
                </a:lnSpc>
              </a:pPr>
              <a:endParaRPr/>
            </a:p>
          </p:txBody>
        </p:sp>
      </p:grpSp>
      <p:grpSp>
        <p:nvGrpSpPr>
          <p:cNvPr id="6" name="Group 6"/>
          <p:cNvGrpSpPr/>
          <p:nvPr/>
        </p:nvGrpSpPr>
        <p:grpSpPr>
          <a:xfrm>
            <a:off x="2006992" y="6014904"/>
            <a:ext cx="5548182" cy="2478912"/>
            <a:chOff x="0" y="0"/>
            <a:chExt cx="1419132" cy="634064"/>
          </a:xfrm>
        </p:grpSpPr>
        <p:sp>
          <p:nvSpPr>
            <p:cNvPr id="7" name="Freeform 7"/>
            <p:cNvSpPr/>
            <p:nvPr/>
          </p:nvSpPr>
          <p:spPr>
            <a:xfrm>
              <a:off x="0" y="0"/>
              <a:ext cx="1419132" cy="634064"/>
            </a:xfrm>
            <a:custGeom>
              <a:avLst/>
              <a:gdLst/>
              <a:ahLst/>
              <a:cxnLst/>
              <a:rect l="l" t="t" r="r" b="b"/>
              <a:pathLst>
                <a:path w="1419132" h="634064">
                  <a:moveTo>
                    <a:pt x="41862" y="0"/>
                  </a:moveTo>
                  <a:lnTo>
                    <a:pt x="1377270" y="0"/>
                  </a:lnTo>
                  <a:cubicBezTo>
                    <a:pt x="1400390" y="0"/>
                    <a:pt x="1419132" y="18742"/>
                    <a:pt x="1419132" y="41862"/>
                  </a:cubicBezTo>
                  <a:lnTo>
                    <a:pt x="1419132" y="592202"/>
                  </a:lnTo>
                  <a:cubicBezTo>
                    <a:pt x="1419132" y="615322"/>
                    <a:pt x="1400390" y="634064"/>
                    <a:pt x="1377270" y="634064"/>
                  </a:cubicBezTo>
                  <a:lnTo>
                    <a:pt x="41862" y="634064"/>
                  </a:lnTo>
                  <a:cubicBezTo>
                    <a:pt x="18742" y="634064"/>
                    <a:pt x="0" y="615322"/>
                    <a:pt x="0" y="592202"/>
                  </a:cubicBezTo>
                  <a:lnTo>
                    <a:pt x="0" y="41862"/>
                  </a:lnTo>
                  <a:cubicBezTo>
                    <a:pt x="0" y="18742"/>
                    <a:pt x="18742" y="0"/>
                    <a:pt x="41862" y="0"/>
                  </a:cubicBezTo>
                  <a:close/>
                </a:path>
              </a:pathLst>
            </a:custGeom>
            <a:solidFill>
              <a:srgbClr val="5B7ABE"/>
            </a:solidFill>
          </p:spPr>
        </p:sp>
        <p:sp>
          <p:nvSpPr>
            <p:cNvPr id="8" name="TextBox 8"/>
            <p:cNvSpPr txBox="1"/>
            <p:nvPr/>
          </p:nvSpPr>
          <p:spPr>
            <a:xfrm>
              <a:off x="0" y="-47625"/>
              <a:ext cx="1419132" cy="681689"/>
            </a:xfrm>
            <a:prstGeom prst="rect">
              <a:avLst/>
            </a:prstGeom>
          </p:spPr>
          <p:txBody>
            <a:bodyPr lIns="50800" tIns="50800" rIns="50800" bIns="50800" rtlCol="0" anchor="ctr"/>
            <a:lstStyle/>
            <a:p>
              <a:pPr algn="ctr">
                <a:lnSpc>
                  <a:spcPts val="3032"/>
                </a:lnSpc>
              </a:pPr>
              <a:endParaRPr/>
            </a:p>
          </p:txBody>
        </p:sp>
      </p:grpSp>
      <p:sp>
        <p:nvSpPr>
          <p:cNvPr id="9" name="Freeform 9"/>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10" name="Freeform 10"/>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11" name="Freeform 11"/>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Freeform 13"/>
          <p:cNvSpPr/>
          <p:nvPr/>
        </p:nvSpPr>
        <p:spPr>
          <a:xfrm>
            <a:off x="8322638" y="2808797"/>
            <a:ext cx="8936662" cy="4669406"/>
          </a:xfrm>
          <a:custGeom>
            <a:avLst/>
            <a:gdLst/>
            <a:ahLst/>
            <a:cxnLst/>
            <a:rect l="l" t="t" r="r" b="b"/>
            <a:pathLst>
              <a:path w="8936662" h="4669406">
                <a:moveTo>
                  <a:pt x="0" y="0"/>
                </a:moveTo>
                <a:lnTo>
                  <a:pt x="8936662" y="0"/>
                </a:lnTo>
                <a:lnTo>
                  <a:pt x="8936662" y="4669406"/>
                </a:lnTo>
                <a:lnTo>
                  <a:pt x="0" y="4669406"/>
                </a:lnTo>
                <a:lnTo>
                  <a:pt x="0" y="0"/>
                </a:lnTo>
                <a:close/>
              </a:path>
            </a:pathLst>
          </a:custGeom>
          <a:blipFill>
            <a:blip r:embed="rId10"/>
            <a:stretch>
              <a:fillRect/>
            </a:stretch>
          </a:blipFill>
        </p:spPr>
      </p:sp>
      <p:sp>
        <p:nvSpPr>
          <p:cNvPr id="14" name="TextBox 14"/>
          <p:cNvSpPr txBox="1"/>
          <p:nvPr/>
        </p:nvSpPr>
        <p:spPr>
          <a:xfrm>
            <a:off x="2192893" y="2337247"/>
            <a:ext cx="5163316" cy="3051906"/>
          </a:xfrm>
          <a:prstGeom prst="rect">
            <a:avLst/>
          </a:prstGeom>
        </p:spPr>
        <p:txBody>
          <a:bodyPr lIns="0" tIns="0" rIns="0" bIns="0" rtlCol="0" anchor="t">
            <a:spAutoFit/>
          </a:bodyPr>
          <a:lstStyle/>
          <a:p>
            <a:pPr algn="just">
              <a:lnSpc>
                <a:spcPts val="3459"/>
              </a:lnSpc>
            </a:pPr>
            <a:r>
              <a:rPr lang="en-US" sz="2471" b="1">
                <a:solidFill>
                  <a:srgbClr val="FBFCFE"/>
                </a:solidFill>
                <a:latin typeface="Red Hat Display Bold"/>
                <a:ea typeface="Red Hat Display Bold"/>
                <a:cs typeface="Red Hat Display Bold"/>
                <a:sym typeface="Red Hat Display Bold"/>
              </a:rPr>
              <a:t>Hai thành phần chính: </a:t>
            </a:r>
          </a:p>
          <a:p>
            <a:pPr marL="533538" lvl="1" indent="-266769" algn="just">
              <a:lnSpc>
                <a:spcPts val="3459"/>
              </a:lnSpc>
              <a:buFont typeface="Arial"/>
              <a:buChar char="•"/>
            </a:pPr>
            <a:r>
              <a:rPr lang="en-US" sz="2471" b="1">
                <a:solidFill>
                  <a:srgbClr val="FBFCFE"/>
                </a:solidFill>
                <a:latin typeface="Red Hat Display Bold"/>
                <a:ea typeface="Red Hat Display Bold"/>
                <a:cs typeface="Red Hat Display Bold"/>
                <a:sym typeface="Red Hat Display Bold"/>
              </a:rPr>
              <a:t>Workflow Engine (thực thi và quản lý các luồng công việc Hadoop)  </a:t>
            </a:r>
          </a:p>
          <a:p>
            <a:pPr marL="533538" lvl="1" indent="-266769" algn="just">
              <a:lnSpc>
                <a:spcPts val="3459"/>
              </a:lnSpc>
              <a:buFont typeface="Arial"/>
              <a:buChar char="•"/>
            </a:pPr>
            <a:r>
              <a:rPr lang="en-US" sz="2471" b="1">
                <a:solidFill>
                  <a:srgbClr val="FBFCFE"/>
                </a:solidFill>
                <a:latin typeface="Red Hat Display Bold"/>
                <a:ea typeface="Red Hat Display Bold"/>
                <a:cs typeface="Red Hat Display Bold"/>
                <a:sym typeface="Red Hat Display Bold"/>
              </a:rPr>
              <a:t>Coordinator Engine (kích hoạt luồng công việc theo lịch hoặc khi dữ liệu sẵn sàng).</a:t>
            </a:r>
          </a:p>
        </p:txBody>
      </p:sp>
      <p:sp>
        <p:nvSpPr>
          <p:cNvPr id="15" name="TextBox 15"/>
          <p:cNvSpPr txBox="1"/>
          <p:nvPr/>
        </p:nvSpPr>
        <p:spPr>
          <a:xfrm>
            <a:off x="2192893" y="6375043"/>
            <a:ext cx="5169848" cy="1711009"/>
          </a:xfrm>
          <a:prstGeom prst="rect">
            <a:avLst/>
          </a:prstGeom>
        </p:spPr>
        <p:txBody>
          <a:bodyPr lIns="0" tIns="0" rIns="0" bIns="0" rtlCol="0" anchor="t">
            <a:spAutoFit/>
          </a:bodyPr>
          <a:lstStyle/>
          <a:p>
            <a:pPr algn="just">
              <a:lnSpc>
                <a:spcPts val="3459"/>
              </a:lnSpc>
            </a:pPr>
            <a:r>
              <a:rPr lang="en-US" sz="2471" b="1">
                <a:solidFill>
                  <a:srgbClr val="FBFCFE"/>
                </a:solidFill>
                <a:latin typeface="Red Hat Display Bold"/>
                <a:ea typeface="Red Hat Display Bold"/>
                <a:cs typeface="Red Hat Display Bold"/>
                <a:sym typeface="Red Hat Display Bold"/>
              </a:rPr>
              <a:t>Hệ thống có thể xử lý hàng nghìn luồng công việc, mỗi luồng gồm hàng chục tác vụ, mà vẫn đảm bảo hiệu suất ổn định.</a:t>
            </a:r>
          </a:p>
        </p:txBody>
      </p:sp>
      <p:sp>
        <p:nvSpPr>
          <p:cNvPr id="16" name="TextBox 16"/>
          <p:cNvSpPr txBox="1"/>
          <p:nvPr/>
        </p:nvSpPr>
        <p:spPr>
          <a:xfrm>
            <a:off x="8929650" y="7455903"/>
            <a:ext cx="7904148" cy="754604"/>
          </a:xfrm>
          <a:prstGeom prst="rect">
            <a:avLst/>
          </a:prstGeom>
        </p:spPr>
        <p:txBody>
          <a:bodyPr lIns="0" tIns="0" rIns="0" bIns="0" rtlCol="0" anchor="t">
            <a:spAutoFit/>
          </a:bodyPr>
          <a:lstStyle/>
          <a:p>
            <a:pPr algn="ctr">
              <a:lnSpc>
                <a:spcPts val="3032"/>
              </a:lnSpc>
              <a:spcBef>
                <a:spcPct val="0"/>
              </a:spcBef>
            </a:pPr>
            <a:r>
              <a:rPr lang="en-US" sz="2166">
                <a:solidFill>
                  <a:srgbClr val="000000"/>
                </a:solidFill>
                <a:latin typeface="Roboto Slab"/>
                <a:ea typeface="Roboto Slab"/>
                <a:cs typeface="Roboto Slab"/>
                <a:sym typeface="Roboto Slab"/>
              </a:rPr>
              <a:t>Luồng hoạt động và các thành phần chính của Apache Oozie trong môi trường Hadoop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264475" y="952500"/>
            <a:ext cx="9759051"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Kiến trúc của Apache Oozie</a:t>
            </a:r>
          </a:p>
        </p:txBody>
      </p:sp>
      <p:sp>
        <p:nvSpPr>
          <p:cNvPr id="3" name="Freeform 3"/>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5" name="Freeform 5"/>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3493371" y="2438261"/>
            <a:ext cx="11301259" cy="5410478"/>
          </a:xfrm>
          <a:custGeom>
            <a:avLst/>
            <a:gdLst/>
            <a:ahLst/>
            <a:cxnLst/>
            <a:rect l="l" t="t" r="r" b="b"/>
            <a:pathLst>
              <a:path w="11301259" h="5410478">
                <a:moveTo>
                  <a:pt x="0" y="0"/>
                </a:moveTo>
                <a:lnTo>
                  <a:pt x="11301258" y="0"/>
                </a:lnTo>
                <a:lnTo>
                  <a:pt x="11301258" y="5410478"/>
                </a:lnTo>
                <a:lnTo>
                  <a:pt x="0" y="5410478"/>
                </a:lnTo>
                <a:lnTo>
                  <a:pt x="0" y="0"/>
                </a:lnTo>
                <a:close/>
              </a:path>
            </a:pathLst>
          </a:custGeom>
          <a:blipFill>
            <a:blip r:embed="rId10"/>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264475" y="1163639"/>
            <a:ext cx="9759051"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Cách hoạt động của Oozie</a:t>
            </a:r>
          </a:p>
        </p:txBody>
      </p:sp>
      <p:sp>
        <p:nvSpPr>
          <p:cNvPr id="3" name="Freeform 3"/>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5" name="Freeform 5"/>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2281895" y="2529972"/>
            <a:ext cx="13280299" cy="1866815"/>
            <a:chOff x="0" y="0"/>
            <a:chExt cx="3497692" cy="491672"/>
          </a:xfrm>
        </p:grpSpPr>
        <p:sp>
          <p:nvSpPr>
            <p:cNvPr id="8" name="Freeform 8"/>
            <p:cNvSpPr/>
            <p:nvPr/>
          </p:nvSpPr>
          <p:spPr>
            <a:xfrm>
              <a:off x="0" y="0"/>
              <a:ext cx="3497692" cy="491672"/>
            </a:xfrm>
            <a:custGeom>
              <a:avLst/>
              <a:gdLst/>
              <a:ahLst/>
              <a:cxnLst/>
              <a:rect l="l" t="t" r="r" b="b"/>
              <a:pathLst>
                <a:path w="3497692" h="491672">
                  <a:moveTo>
                    <a:pt x="17489" y="0"/>
                  </a:moveTo>
                  <a:lnTo>
                    <a:pt x="3480203" y="0"/>
                  </a:lnTo>
                  <a:cubicBezTo>
                    <a:pt x="3484842" y="0"/>
                    <a:pt x="3489290" y="1843"/>
                    <a:pt x="3492569" y="5122"/>
                  </a:cubicBezTo>
                  <a:cubicBezTo>
                    <a:pt x="3495849" y="8402"/>
                    <a:pt x="3497692" y="12851"/>
                    <a:pt x="3497692" y="17489"/>
                  </a:cubicBezTo>
                  <a:lnTo>
                    <a:pt x="3497692" y="474183"/>
                  </a:lnTo>
                  <a:cubicBezTo>
                    <a:pt x="3497692" y="478821"/>
                    <a:pt x="3495849" y="483269"/>
                    <a:pt x="3492569" y="486549"/>
                  </a:cubicBezTo>
                  <a:cubicBezTo>
                    <a:pt x="3489290" y="489829"/>
                    <a:pt x="3484842" y="491672"/>
                    <a:pt x="3480203" y="491672"/>
                  </a:cubicBezTo>
                  <a:lnTo>
                    <a:pt x="17489" y="491672"/>
                  </a:lnTo>
                  <a:cubicBezTo>
                    <a:pt x="12851" y="491672"/>
                    <a:pt x="8402" y="489829"/>
                    <a:pt x="5122" y="486549"/>
                  </a:cubicBezTo>
                  <a:cubicBezTo>
                    <a:pt x="1843" y="483269"/>
                    <a:pt x="0" y="478821"/>
                    <a:pt x="0" y="474183"/>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9" name="TextBox 9"/>
            <p:cNvSpPr txBox="1"/>
            <p:nvPr/>
          </p:nvSpPr>
          <p:spPr>
            <a:xfrm>
              <a:off x="0" y="-47625"/>
              <a:ext cx="3497692" cy="539297"/>
            </a:xfrm>
            <a:prstGeom prst="rect">
              <a:avLst/>
            </a:prstGeom>
          </p:spPr>
          <p:txBody>
            <a:bodyPr lIns="50800" tIns="50800" rIns="50800" bIns="50800" rtlCol="0" anchor="ctr"/>
            <a:lstStyle/>
            <a:p>
              <a:pPr algn="ctr">
                <a:lnSpc>
                  <a:spcPts val="3032"/>
                </a:lnSpc>
              </a:pPr>
              <a:endParaRPr/>
            </a:p>
          </p:txBody>
        </p:sp>
      </p:grpSp>
      <p:grpSp>
        <p:nvGrpSpPr>
          <p:cNvPr id="10" name="Group 10"/>
          <p:cNvGrpSpPr/>
          <p:nvPr/>
        </p:nvGrpSpPr>
        <p:grpSpPr>
          <a:xfrm>
            <a:off x="2281895" y="4756830"/>
            <a:ext cx="13280299" cy="3002405"/>
            <a:chOff x="0" y="0"/>
            <a:chExt cx="3497692" cy="790757"/>
          </a:xfrm>
        </p:grpSpPr>
        <p:sp>
          <p:nvSpPr>
            <p:cNvPr id="11" name="Freeform 11"/>
            <p:cNvSpPr/>
            <p:nvPr/>
          </p:nvSpPr>
          <p:spPr>
            <a:xfrm>
              <a:off x="0" y="0"/>
              <a:ext cx="3497692" cy="790757"/>
            </a:xfrm>
            <a:custGeom>
              <a:avLst/>
              <a:gdLst/>
              <a:ahLst/>
              <a:cxnLst/>
              <a:rect l="l" t="t" r="r" b="b"/>
              <a:pathLst>
                <a:path w="3497692" h="790757">
                  <a:moveTo>
                    <a:pt x="17489" y="0"/>
                  </a:moveTo>
                  <a:lnTo>
                    <a:pt x="3480203" y="0"/>
                  </a:lnTo>
                  <a:cubicBezTo>
                    <a:pt x="3484842" y="0"/>
                    <a:pt x="3489290" y="1843"/>
                    <a:pt x="3492569" y="5122"/>
                  </a:cubicBezTo>
                  <a:cubicBezTo>
                    <a:pt x="3495849" y="8402"/>
                    <a:pt x="3497692" y="12851"/>
                    <a:pt x="3497692" y="17489"/>
                  </a:cubicBezTo>
                  <a:lnTo>
                    <a:pt x="3497692" y="773268"/>
                  </a:lnTo>
                  <a:cubicBezTo>
                    <a:pt x="3497692" y="777906"/>
                    <a:pt x="3495849" y="782355"/>
                    <a:pt x="3492569" y="785634"/>
                  </a:cubicBezTo>
                  <a:cubicBezTo>
                    <a:pt x="3489290" y="788914"/>
                    <a:pt x="3484842" y="790757"/>
                    <a:pt x="3480203" y="790757"/>
                  </a:cubicBezTo>
                  <a:lnTo>
                    <a:pt x="17489" y="790757"/>
                  </a:lnTo>
                  <a:cubicBezTo>
                    <a:pt x="12851" y="790757"/>
                    <a:pt x="8402" y="788914"/>
                    <a:pt x="5122" y="785634"/>
                  </a:cubicBezTo>
                  <a:cubicBezTo>
                    <a:pt x="1843" y="782355"/>
                    <a:pt x="0" y="777906"/>
                    <a:pt x="0" y="773268"/>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12" name="TextBox 12"/>
            <p:cNvSpPr txBox="1"/>
            <p:nvPr/>
          </p:nvSpPr>
          <p:spPr>
            <a:xfrm>
              <a:off x="0" y="-47625"/>
              <a:ext cx="3497692" cy="838382"/>
            </a:xfrm>
            <a:prstGeom prst="rect">
              <a:avLst/>
            </a:prstGeom>
          </p:spPr>
          <p:txBody>
            <a:bodyPr lIns="50800" tIns="50800" rIns="50800" bIns="50800" rtlCol="0" anchor="ctr"/>
            <a:lstStyle/>
            <a:p>
              <a:pPr algn="ctr">
                <a:lnSpc>
                  <a:spcPts val="3032"/>
                </a:lnSpc>
              </a:pPr>
              <a:endParaRPr/>
            </a:p>
          </p:txBody>
        </p:sp>
      </p:grpSp>
      <p:sp>
        <p:nvSpPr>
          <p:cNvPr id="13" name="TextBox 13"/>
          <p:cNvSpPr txBox="1"/>
          <p:nvPr/>
        </p:nvSpPr>
        <p:spPr>
          <a:xfrm>
            <a:off x="2561139" y="2830755"/>
            <a:ext cx="12459074" cy="1234440"/>
          </a:xfrm>
          <a:prstGeom prst="rect">
            <a:avLst/>
          </a:prstGeom>
        </p:spPr>
        <p:txBody>
          <a:bodyPr lIns="0" tIns="0" rIns="0" bIns="0" rtlCol="0" anchor="t">
            <a:spAutoFit/>
          </a:bodyPr>
          <a:lstStyle/>
          <a:p>
            <a:pPr algn="just">
              <a:lnSpc>
                <a:spcPts val="3359"/>
              </a:lnSpc>
            </a:pPr>
            <a:r>
              <a:rPr lang="en-US" sz="2400" b="1">
                <a:solidFill>
                  <a:srgbClr val="FBFCFE"/>
                </a:solidFill>
                <a:latin typeface="Red Hat Display Bold"/>
                <a:ea typeface="Red Hat Display Bold"/>
                <a:cs typeface="Red Hat Display Bold"/>
                <a:sym typeface="Red Hat Display Bold"/>
              </a:rPr>
              <a:t>Quy trình làm việc trong Oozie được viết bằng hPDL (XML-based workflow language), gồm các hành động như MapReduce, Pig được sắp xếp trong đồ thị DAG, đảm bảo công việc sau chỉ chạy khi công việc trước hoàn tất.</a:t>
            </a:r>
          </a:p>
        </p:txBody>
      </p:sp>
      <p:sp>
        <p:nvSpPr>
          <p:cNvPr id="14" name="TextBox 14"/>
          <p:cNvSpPr txBox="1"/>
          <p:nvPr/>
        </p:nvSpPr>
        <p:spPr>
          <a:xfrm>
            <a:off x="2539566" y="4993112"/>
            <a:ext cx="12480647" cy="2072640"/>
          </a:xfrm>
          <a:prstGeom prst="rect">
            <a:avLst/>
          </a:prstGeom>
        </p:spPr>
        <p:txBody>
          <a:bodyPr lIns="0" tIns="0" rIns="0" bIns="0" rtlCol="0" anchor="t">
            <a:spAutoFit/>
          </a:bodyPr>
          <a:lstStyle/>
          <a:p>
            <a:pPr algn="just">
              <a:lnSpc>
                <a:spcPts val="3359"/>
              </a:lnSpc>
              <a:spcBef>
                <a:spcPct val="0"/>
              </a:spcBef>
            </a:pPr>
            <a:r>
              <a:rPr lang="en-US" sz="2400" b="1">
                <a:solidFill>
                  <a:srgbClr val="FFFFFF"/>
                </a:solidFill>
                <a:latin typeface="Red Hat Display Bold"/>
                <a:ea typeface="Red Hat Display Bold"/>
                <a:cs typeface="Red Hat Display Bold"/>
                <a:sym typeface="Red Hat Display Bold"/>
              </a:rPr>
              <a:t>Oozie có hai loại nút trong workflow:</a:t>
            </a:r>
          </a:p>
          <a:p>
            <a:pPr marL="518160" lvl="1" indent="-259080" algn="just">
              <a:lnSpc>
                <a:spcPts val="3359"/>
              </a:lnSpc>
              <a:buFont typeface="Arial"/>
              <a:buChar char="•"/>
            </a:pPr>
            <a:r>
              <a:rPr lang="en-US" sz="2400" b="1">
                <a:solidFill>
                  <a:srgbClr val="FFFFFF"/>
                </a:solidFill>
                <a:latin typeface="Red Hat Display Bold"/>
                <a:ea typeface="Red Hat Display Bold"/>
                <a:cs typeface="Red Hat Display Bold"/>
                <a:sym typeface="Red Hat Display Bold"/>
              </a:rPr>
              <a:t>Nút luồng điều khiển: xác định điểm bắt đầu, kết thúc, thất bại và kiểm soát luồng thực thi (rẽ nhánh, quyết định, kết nối).</a:t>
            </a:r>
          </a:p>
          <a:p>
            <a:pPr marL="518160" lvl="1" indent="-259080" algn="just">
              <a:lnSpc>
                <a:spcPts val="3359"/>
              </a:lnSpc>
              <a:buFont typeface="Arial"/>
              <a:buChar char="•"/>
            </a:pPr>
            <a:r>
              <a:rPr lang="en-US" sz="2400" b="1">
                <a:solidFill>
                  <a:srgbClr val="FFFFFF"/>
                </a:solidFill>
                <a:latin typeface="Red Hat Display Bold"/>
                <a:ea typeface="Red Hat Display Bold"/>
                <a:cs typeface="Red Hat Display Bold"/>
                <a:sym typeface="Red Hat Display Bold"/>
              </a:rPr>
              <a:t>Nút hành động: khởi chạy các tác vụ cụ thể như MapReduce, HDFS, Pig, SSH, HTTP, Email hoặc workflow con, cho phép mở rộng linh hoạt quy trình xử lý dữ liệu.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264475" y="952500"/>
            <a:ext cx="9759051"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Cách hoạt động của Oozie</a:t>
            </a:r>
          </a:p>
        </p:txBody>
      </p:sp>
      <p:sp>
        <p:nvSpPr>
          <p:cNvPr id="3" name="Freeform 3"/>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5" name="Freeform 5"/>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3493371" y="2386724"/>
            <a:ext cx="11301259" cy="6074427"/>
          </a:xfrm>
          <a:custGeom>
            <a:avLst/>
            <a:gdLst/>
            <a:ahLst/>
            <a:cxnLst/>
            <a:rect l="l" t="t" r="r" b="b"/>
            <a:pathLst>
              <a:path w="11301259" h="6074427">
                <a:moveTo>
                  <a:pt x="0" y="0"/>
                </a:moveTo>
                <a:lnTo>
                  <a:pt x="11301258" y="0"/>
                </a:lnTo>
                <a:lnTo>
                  <a:pt x="11301258" y="6074426"/>
                </a:lnTo>
                <a:lnTo>
                  <a:pt x="0" y="6074426"/>
                </a:lnTo>
                <a:lnTo>
                  <a:pt x="0" y="0"/>
                </a:lnTo>
                <a:close/>
              </a:path>
            </a:pathLst>
          </a:custGeom>
          <a:blipFill>
            <a:blip r:embed="rId10"/>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Freeform 2"/>
          <p:cNvSpPr/>
          <p:nvPr/>
        </p:nvSpPr>
        <p:spPr>
          <a:xfrm>
            <a:off x="6636369" y="3396840"/>
            <a:ext cx="1381570" cy="1381570"/>
          </a:xfrm>
          <a:custGeom>
            <a:avLst/>
            <a:gdLst/>
            <a:ahLst/>
            <a:cxnLst/>
            <a:rect l="l" t="t" r="r" b="b"/>
            <a:pathLst>
              <a:path w="1381570" h="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a:stretch>
          </a:blipFill>
        </p:spPr>
      </p:sp>
      <p:sp>
        <p:nvSpPr>
          <p:cNvPr id="3" name="Freeform 3"/>
          <p:cNvSpPr/>
          <p:nvPr/>
        </p:nvSpPr>
        <p:spPr>
          <a:xfrm>
            <a:off x="6601135" y="5585432"/>
            <a:ext cx="1381570" cy="1381570"/>
          </a:xfrm>
          <a:custGeom>
            <a:avLst/>
            <a:gdLst/>
            <a:ahLst/>
            <a:cxnLst/>
            <a:rect l="l" t="t" r="r" b="b"/>
            <a:pathLst>
              <a:path w="1381570" h="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a:stretch>
          </a:blipFill>
        </p:spPr>
      </p:sp>
      <p:sp>
        <p:nvSpPr>
          <p:cNvPr id="4" name="Freeform 4"/>
          <p:cNvSpPr/>
          <p:nvPr/>
        </p:nvSpPr>
        <p:spPr>
          <a:xfrm>
            <a:off x="6636369" y="7376577"/>
            <a:ext cx="1381570" cy="1381570"/>
          </a:xfrm>
          <a:custGeom>
            <a:avLst/>
            <a:gdLst/>
            <a:ahLst/>
            <a:cxnLst/>
            <a:rect l="l" t="t" r="r" b="b"/>
            <a:pathLst>
              <a:path w="1381570" h="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6812404" y="3572875"/>
            <a:ext cx="1029499" cy="102949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032"/>
                </a:lnSpc>
              </a:pPr>
              <a:endParaRPr/>
            </a:p>
          </p:txBody>
        </p:sp>
      </p:grpSp>
      <p:grpSp>
        <p:nvGrpSpPr>
          <p:cNvPr id="8" name="Group 8"/>
          <p:cNvGrpSpPr/>
          <p:nvPr/>
        </p:nvGrpSpPr>
        <p:grpSpPr>
          <a:xfrm>
            <a:off x="6777171" y="5761468"/>
            <a:ext cx="1029499" cy="102949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032"/>
                </a:lnSpc>
              </a:pPr>
              <a:endParaRPr/>
            </a:p>
          </p:txBody>
        </p:sp>
      </p:grpSp>
      <p:grpSp>
        <p:nvGrpSpPr>
          <p:cNvPr id="11" name="Group 11"/>
          <p:cNvGrpSpPr/>
          <p:nvPr/>
        </p:nvGrpSpPr>
        <p:grpSpPr>
          <a:xfrm>
            <a:off x="6812404" y="7552613"/>
            <a:ext cx="1029499" cy="102949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032"/>
                </a:lnSpc>
              </a:pPr>
              <a:endParaRPr/>
            </a:p>
          </p:txBody>
        </p:sp>
      </p:grpSp>
      <p:sp>
        <p:nvSpPr>
          <p:cNvPr id="14" name="Freeform 14"/>
          <p:cNvSpPr/>
          <p:nvPr/>
        </p:nvSpPr>
        <p:spPr>
          <a:xfrm>
            <a:off x="1028700" y="3366111"/>
            <a:ext cx="4899276" cy="3623338"/>
          </a:xfrm>
          <a:custGeom>
            <a:avLst/>
            <a:gdLst/>
            <a:ahLst/>
            <a:cxnLst/>
            <a:rect l="l" t="t" r="r" b="b"/>
            <a:pathLst>
              <a:path w="4899276" h="3623338">
                <a:moveTo>
                  <a:pt x="0" y="0"/>
                </a:moveTo>
                <a:lnTo>
                  <a:pt x="4899276" y="0"/>
                </a:lnTo>
                <a:lnTo>
                  <a:pt x="4899276" y="3623338"/>
                </a:lnTo>
                <a:lnTo>
                  <a:pt x="0" y="36233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8251746" y="3563350"/>
            <a:ext cx="5936813" cy="432029"/>
          </a:xfrm>
          <a:prstGeom prst="rect">
            <a:avLst/>
          </a:prstGeom>
        </p:spPr>
        <p:txBody>
          <a:bodyPr lIns="0" tIns="0" rIns="0" bIns="0" rtlCol="0" anchor="t">
            <a:spAutoFit/>
          </a:bodyPr>
          <a:lstStyle/>
          <a:p>
            <a:pPr algn="l">
              <a:lnSpc>
                <a:spcPts val="3483"/>
              </a:lnSpc>
            </a:pPr>
            <a:r>
              <a:rPr lang="en-US" sz="2799" b="1">
                <a:solidFill>
                  <a:srgbClr val="2D2261"/>
                </a:solidFill>
                <a:latin typeface="Red Hat Display Bold"/>
                <a:ea typeface="Red Hat Display Bold"/>
                <a:cs typeface="Red Hat Display Bold"/>
                <a:sym typeface="Red Hat Display Bold"/>
              </a:rPr>
              <a:t>Workflow Jobs</a:t>
            </a:r>
          </a:p>
        </p:txBody>
      </p:sp>
      <p:sp>
        <p:nvSpPr>
          <p:cNvPr id="16" name="TextBox 16"/>
          <p:cNvSpPr txBox="1"/>
          <p:nvPr/>
        </p:nvSpPr>
        <p:spPr>
          <a:xfrm>
            <a:off x="8251746" y="5643094"/>
            <a:ext cx="7748151" cy="432029"/>
          </a:xfrm>
          <a:prstGeom prst="rect">
            <a:avLst/>
          </a:prstGeom>
        </p:spPr>
        <p:txBody>
          <a:bodyPr lIns="0" tIns="0" rIns="0" bIns="0" rtlCol="0" anchor="t">
            <a:spAutoFit/>
          </a:bodyPr>
          <a:lstStyle/>
          <a:p>
            <a:pPr algn="l">
              <a:lnSpc>
                <a:spcPts val="3483"/>
              </a:lnSpc>
            </a:pPr>
            <a:r>
              <a:rPr lang="en-US" sz="2799" b="1">
                <a:solidFill>
                  <a:srgbClr val="2D2261"/>
                </a:solidFill>
                <a:latin typeface="Red Hat Display Bold"/>
                <a:ea typeface="Red Hat Display Bold"/>
                <a:cs typeface="Red Hat Display Bold"/>
                <a:sym typeface="Red Hat Display Bold"/>
              </a:rPr>
              <a:t>Coordinator Jobs</a:t>
            </a:r>
          </a:p>
        </p:txBody>
      </p:sp>
      <p:sp>
        <p:nvSpPr>
          <p:cNvPr id="17" name="TextBox 17"/>
          <p:cNvSpPr txBox="1"/>
          <p:nvPr/>
        </p:nvSpPr>
        <p:spPr>
          <a:xfrm>
            <a:off x="8286979" y="7434239"/>
            <a:ext cx="5936813" cy="432029"/>
          </a:xfrm>
          <a:prstGeom prst="rect">
            <a:avLst/>
          </a:prstGeom>
        </p:spPr>
        <p:txBody>
          <a:bodyPr lIns="0" tIns="0" rIns="0" bIns="0" rtlCol="0" anchor="t">
            <a:spAutoFit/>
          </a:bodyPr>
          <a:lstStyle/>
          <a:p>
            <a:pPr algn="l">
              <a:lnSpc>
                <a:spcPts val="3483"/>
              </a:lnSpc>
            </a:pPr>
            <a:r>
              <a:rPr lang="en-US" sz="2799" b="1">
                <a:solidFill>
                  <a:srgbClr val="2D2261"/>
                </a:solidFill>
                <a:latin typeface="Red Hat Display Bold"/>
                <a:ea typeface="Red Hat Display Bold"/>
                <a:cs typeface="Red Hat Display Bold"/>
                <a:sym typeface="Red Hat Display Bold"/>
              </a:rPr>
              <a:t>Bundle</a:t>
            </a:r>
          </a:p>
        </p:txBody>
      </p:sp>
      <p:sp>
        <p:nvSpPr>
          <p:cNvPr id="18" name="TextBox 18"/>
          <p:cNvSpPr txBox="1"/>
          <p:nvPr/>
        </p:nvSpPr>
        <p:spPr>
          <a:xfrm>
            <a:off x="6847241" y="3834628"/>
            <a:ext cx="959825" cy="496468"/>
          </a:xfrm>
          <a:prstGeom prst="rect">
            <a:avLst/>
          </a:prstGeom>
        </p:spPr>
        <p:txBody>
          <a:bodyPr lIns="0" tIns="0" rIns="0" bIns="0" rtlCol="0" anchor="t">
            <a:spAutoFit/>
          </a:bodyPr>
          <a:lstStyle/>
          <a:p>
            <a:pPr algn="ctr">
              <a:lnSpc>
                <a:spcPts val="3980"/>
              </a:lnSpc>
            </a:pPr>
            <a:r>
              <a:rPr lang="en-US" sz="3199" b="1">
                <a:solidFill>
                  <a:srgbClr val="2D2261"/>
                </a:solidFill>
                <a:latin typeface="Red Hat Display Bold"/>
                <a:ea typeface="Red Hat Display Bold"/>
                <a:cs typeface="Red Hat Display Bold"/>
                <a:sym typeface="Red Hat Display Bold"/>
              </a:rPr>
              <a:t>01</a:t>
            </a:r>
          </a:p>
        </p:txBody>
      </p:sp>
      <p:sp>
        <p:nvSpPr>
          <p:cNvPr id="19" name="TextBox 19"/>
          <p:cNvSpPr txBox="1"/>
          <p:nvPr/>
        </p:nvSpPr>
        <p:spPr>
          <a:xfrm>
            <a:off x="6812008" y="6023220"/>
            <a:ext cx="959825" cy="496468"/>
          </a:xfrm>
          <a:prstGeom prst="rect">
            <a:avLst/>
          </a:prstGeom>
        </p:spPr>
        <p:txBody>
          <a:bodyPr lIns="0" tIns="0" rIns="0" bIns="0" rtlCol="0" anchor="t">
            <a:spAutoFit/>
          </a:bodyPr>
          <a:lstStyle/>
          <a:p>
            <a:pPr algn="ctr">
              <a:lnSpc>
                <a:spcPts val="3980"/>
              </a:lnSpc>
            </a:pPr>
            <a:r>
              <a:rPr lang="en-US" sz="3199" b="1">
                <a:solidFill>
                  <a:srgbClr val="2D2261"/>
                </a:solidFill>
                <a:latin typeface="Red Hat Display Bold"/>
                <a:ea typeface="Red Hat Display Bold"/>
                <a:cs typeface="Red Hat Display Bold"/>
                <a:sym typeface="Red Hat Display Bold"/>
              </a:rPr>
              <a:t>02</a:t>
            </a:r>
          </a:p>
        </p:txBody>
      </p:sp>
      <p:sp>
        <p:nvSpPr>
          <p:cNvPr id="20" name="TextBox 20"/>
          <p:cNvSpPr txBox="1"/>
          <p:nvPr/>
        </p:nvSpPr>
        <p:spPr>
          <a:xfrm>
            <a:off x="6847241" y="7814365"/>
            <a:ext cx="959825" cy="496468"/>
          </a:xfrm>
          <a:prstGeom prst="rect">
            <a:avLst/>
          </a:prstGeom>
        </p:spPr>
        <p:txBody>
          <a:bodyPr lIns="0" tIns="0" rIns="0" bIns="0" rtlCol="0" anchor="t">
            <a:spAutoFit/>
          </a:bodyPr>
          <a:lstStyle/>
          <a:p>
            <a:pPr algn="ctr">
              <a:lnSpc>
                <a:spcPts val="3980"/>
              </a:lnSpc>
            </a:pPr>
            <a:r>
              <a:rPr lang="en-US" sz="3199" b="1">
                <a:solidFill>
                  <a:srgbClr val="2D2261"/>
                </a:solidFill>
                <a:latin typeface="Red Hat Display Bold"/>
                <a:ea typeface="Red Hat Display Bold"/>
                <a:cs typeface="Red Hat Display Bold"/>
                <a:sym typeface="Red Hat Display Bold"/>
              </a:rPr>
              <a:t>03</a:t>
            </a:r>
          </a:p>
        </p:txBody>
      </p:sp>
      <p:sp>
        <p:nvSpPr>
          <p:cNvPr id="21" name="TextBox 21"/>
          <p:cNvSpPr txBox="1"/>
          <p:nvPr/>
        </p:nvSpPr>
        <p:spPr>
          <a:xfrm>
            <a:off x="5030526" y="2268590"/>
            <a:ext cx="12228774" cy="897496"/>
          </a:xfrm>
          <a:prstGeom prst="rect">
            <a:avLst/>
          </a:prstGeom>
        </p:spPr>
        <p:txBody>
          <a:bodyPr lIns="0" tIns="0" rIns="0" bIns="0" rtlCol="0" anchor="t">
            <a:spAutoFit/>
          </a:bodyPr>
          <a:lstStyle/>
          <a:p>
            <a:pPr algn="l">
              <a:lnSpc>
                <a:spcPts val="7113"/>
              </a:lnSpc>
            </a:pPr>
            <a:r>
              <a:rPr lang="en-US" sz="5718" b="1">
                <a:solidFill>
                  <a:srgbClr val="2D2261"/>
                </a:solidFill>
                <a:latin typeface="Red Hat Display Bold"/>
                <a:ea typeface="Red Hat Display Bold"/>
                <a:cs typeface="Red Hat Display Bold"/>
                <a:sym typeface="Red Hat Display Bold"/>
              </a:rPr>
              <a:t>Các thành phần chính trong Oozie</a:t>
            </a:r>
          </a:p>
        </p:txBody>
      </p:sp>
      <p:sp>
        <p:nvSpPr>
          <p:cNvPr id="22" name="Freeform 22"/>
          <p:cNvSpPr/>
          <p:nvPr/>
        </p:nvSpPr>
        <p:spPr>
          <a:xfrm rot="1026841">
            <a:off x="13266207" y="-2293406"/>
            <a:ext cx="6727323" cy="4586811"/>
          </a:xfrm>
          <a:custGeom>
            <a:avLst/>
            <a:gdLst/>
            <a:ahLst/>
            <a:cxnLst/>
            <a:rect l="l" t="t" r="r" b="b"/>
            <a:pathLst>
              <a:path w="6727323" h="4586811">
                <a:moveTo>
                  <a:pt x="0" y="0"/>
                </a:moveTo>
                <a:lnTo>
                  <a:pt x="6727323" y="0"/>
                </a:lnTo>
                <a:lnTo>
                  <a:pt x="6727323" y="4586812"/>
                </a:lnTo>
                <a:lnTo>
                  <a:pt x="0" y="4586812"/>
                </a:lnTo>
                <a:lnTo>
                  <a:pt x="0" y="0"/>
                </a:lnTo>
                <a:close/>
              </a:path>
            </a:pathLst>
          </a:custGeom>
          <a:blipFill>
            <a:blip r:embed="rId6">
              <a:alphaModFix amt="50000"/>
              <a:extLst>
                <a:ext uri="{96DAC541-7B7A-43D3-8B79-37D633B846F1}">
                  <asvg:svgBlip xmlns:asvg="http://schemas.microsoft.com/office/drawing/2016/SVG/main" r:embed="rId7"/>
                </a:ext>
              </a:extLst>
            </a:blip>
            <a:stretch>
              <a:fillRect/>
            </a:stretch>
          </a:blipFill>
        </p:spPr>
      </p:sp>
      <p:sp>
        <p:nvSpPr>
          <p:cNvPr id="23" name="Freeform 23"/>
          <p:cNvSpPr/>
          <p:nvPr/>
        </p:nvSpPr>
        <p:spPr>
          <a:xfrm rot="635325">
            <a:off x="-1442576" y="8071855"/>
            <a:ext cx="7907020" cy="6699403"/>
          </a:xfrm>
          <a:custGeom>
            <a:avLst/>
            <a:gdLst/>
            <a:ahLst/>
            <a:cxnLst/>
            <a:rect l="l" t="t" r="r" b="b"/>
            <a:pathLst>
              <a:path w="7907020" h="6699403">
                <a:moveTo>
                  <a:pt x="0" y="0"/>
                </a:moveTo>
                <a:lnTo>
                  <a:pt x="7907020" y="0"/>
                </a:lnTo>
                <a:lnTo>
                  <a:pt x="7907020" y="6699403"/>
                </a:lnTo>
                <a:lnTo>
                  <a:pt x="0" y="6699403"/>
                </a:lnTo>
                <a:lnTo>
                  <a:pt x="0" y="0"/>
                </a:lnTo>
                <a:close/>
              </a:path>
            </a:pathLst>
          </a:custGeom>
          <a:blipFill>
            <a:blip r:embed="rId8">
              <a:alphaModFix amt="50000"/>
              <a:extLst>
                <a:ext uri="{96DAC541-7B7A-43D3-8B79-37D633B846F1}">
                  <asvg:svgBlip xmlns:asvg="http://schemas.microsoft.com/office/drawing/2016/SVG/main" r:embed="rId9"/>
                </a:ext>
              </a:extLst>
            </a:blip>
            <a:stretch>
              <a:fillRect/>
            </a:stretch>
          </a:blipFill>
        </p:spPr>
      </p:sp>
      <p:sp>
        <p:nvSpPr>
          <p:cNvPr id="24" name="Freeform 24"/>
          <p:cNvSpPr/>
          <p:nvPr/>
        </p:nvSpPr>
        <p:spPr>
          <a:xfrm rot="-226878">
            <a:off x="-267547" y="148087"/>
            <a:ext cx="4576141" cy="2579280"/>
          </a:xfrm>
          <a:custGeom>
            <a:avLst/>
            <a:gdLst/>
            <a:ahLst/>
            <a:cxnLst/>
            <a:rect l="l" t="t" r="r" b="b"/>
            <a:pathLst>
              <a:path w="4576141" h="2579280">
                <a:moveTo>
                  <a:pt x="0" y="0"/>
                </a:moveTo>
                <a:lnTo>
                  <a:pt x="4576141" y="0"/>
                </a:lnTo>
                <a:lnTo>
                  <a:pt x="4576141" y="2579280"/>
                </a:lnTo>
                <a:lnTo>
                  <a:pt x="0" y="257928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25" name="Freeform 25"/>
          <p:cNvSpPr/>
          <p:nvPr/>
        </p:nvSpPr>
        <p:spPr>
          <a:xfrm rot="2830696">
            <a:off x="14939466" y="8144946"/>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26" name="TextBox 26"/>
          <p:cNvSpPr txBox="1"/>
          <p:nvPr/>
        </p:nvSpPr>
        <p:spPr>
          <a:xfrm>
            <a:off x="8021929" y="4026469"/>
            <a:ext cx="9436656" cy="1135604"/>
          </a:xfrm>
          <a:prstGeom prst="rect">
            <a:avLst/>
          </a:prstGeom>
        </p:spPr>
        <p:txBody>
          <a:bodyPr lIns="0" tIns="0" rIns="0" bIns="0" rtlCol="0" anchor="t">
            <a:spAutoFit/>
          </a:bodyPr>
          <a:lstStyle/>
          <a:p>
            <a:pPr marL="467678" lvl="1" indent="-233839" algn="just">
              <a:lnSpc>
                <a:spcPts val="3032"/>
              </a:lnSpc>
              <a:buFont typeface="Arial"/>
              <a:buChar char="•"/>
            </a:pPr>
            <a:r>
              <a:rPr lang="en-US" sz="2166">
                <a:solidFill>
                  <a:srgbClr val="000000"/>
                </a:solidFill>
                <a:latin typeface="Roboto Slab"/>
                <a:ea typeface="Roboto Slab"/>
                <a:cs typeface="Roboto Slab"/>
                <a:sym typeface="Roboto Slab"/>
              </a:rPr>
              <a:t>Gồm chuỗi hành động được sắp xếp theo DAG (Start → End).</a:t>
            </a:r>
          </a:p>
          <a:p>
            <a:pPr marL="467678" lvl="1" indent="-233839" algn="just">
              <a:lnSpc>
                <a:spcPts val="3032"/>
              </a:lnSpc>
              <a:buFont typeface="Arial"/>
              <a:buChar char="•"/>
            </a:pPr>
            <a:r>
              <a:rPr lang="en-US" sz="2166">
                <a:solidFill>
                  <a:srgbClr val="000000"/>
                </a:solidFill>
                <a:latin typeface="Roboto Slab"/>
                <a:ea typeface="Roboto Slab"/>
                <a:cs typeface="Roboto Slab"/>
                <a:sym typeface="Roboto Slab"/>
              </a:rPr>
              <a:t>Có nút điều khiển: Decision, Fork, Join, Error.</a:t>
            </a:r>
          </a:p>
          <a:p>
            <a:pPr marL="467678" lvl="1" indent="-233839" algn="just">
              <a:lnSpc>
                <a:spcPts val="3032"/>
              </a:lnSpc>
              <a:buFont typeface="Arial"/>
              <a:buChar char="•"/>
            </a:pPr>
            <a:r>
              <a:rPr lang="en-US" sz="2166">
                <a:solidFill>
                  <a:srgbClr val="000000"/>
                </a:solidFill>
                <a:latin typeface="Roboto Slab"/>
                <a:ea typeface="Roboto Slab"/>
                <a:cs typeface="Roboto Slab"/>
                <a:sym typeface="Roboto Slab"/>
              </a:rPr>
              <a:t>Thực thi các tác vụ: MapReduce, Hive, Pig, Sqoop, SSH, HDFS, Email...</a:t>
            </a:r>
          </a:p>
        </p:txBody>
      </p:sp>
      <p:sp>
        <p:nvSpPr>
          <p:cNvPr id="27" name="TextBox 27"/>
          <p:cNvSpPr txBox="1"/>
          <p:nvPr/>
        </p:nvSpPr>
        <p:spPr>
          <a:xfrm>
            <a:off x="8021929" y="6118574"/>
            <a:ext cx="7201376" cy="754604"/>
          </a:xfrm>
          <a:prstGeom prst="rect">
            <a:avLst/>
          </a:prstGeom>
        </p:spPr>
        <p:txBody>
          <a:bodyPr lIns="0" tIns="0" rIns="0" bIns="0" rtlCol="0" anchor="t">
            <a:spAutoFit/>
          </a:bodyPr>
          <a:lstStyle/>
          <a:p>
            <a:pPr marL="467678" lvl="1" indent="-233839" algn="just">
              <a:lnSpc>
                <a:spcPts val="3032"/>
              </a:lnSpc>
              <a:buFont typeface="Arial"/>
              <a:buChar char="•"/>
            </a:pPr>
            <a:r>
              <a:rPr lang="en-US" sz="2166">
                <a:solidFill>
                  <a:srgbClr val="000000"/>
                </a:solidFill>
                <a:latin typeface="Roboto Slab"/>
                <a:ea typeface="Roboto Slab"/>
                <a:cs typeface="Roboto Slab"/>
                <a:sym typeface="Roboto Slab"/>
              </a:rPr>
              <a:t>Điều phối workflow dựa trên thời gian hoặc dữ liệu.</a:t>
            </a:r>
          </a:p>
          <a:p>
            <a:pPr marL="467678" lvl="1" indent="-233839" algn="just">
              <a:lnSpc>
                <a:spcPts val="3032"/>
              </a:lnSpc>
              <a:buFont typeface="Arial"/>
              <a:buChar char="•"/>
            </a:pPr>
            <a:r>
              <a:rPr lang="en-US" sz="2166">
                <a:solidFill>
                  <a:srgbClr val="000000"/>
                </a:solidFill>
                <a:latin typeface="Roboto Slab"/>
                <a:ea typeface="Roboto Slab"/>
                <a:cs typeface="Roboto Slab"/>
                <a:sym typeface="Roboto Slab"/>
              </a:rPr>
              <a:t>Chỉ chạy khi dữ liệu đầu vào đã sẵn sàng.</a:t>
            </a:r>
          </a:p>
        </p:txBody>
      </p:sp>
      <p:sp>
        <p:nvSpPr>
          <p:cNvPr id="28" name="TextBox 28"/>
          <p:cNvSpPr txBox="1"/>
          <p:nvPr/>
        </p:nvSpPr>
        <p:spPr>
          <a:xfrm>
            <a:off x="8037466" y="7913893"/>
            <a:ext cx="9405581" cy="754604"/>
          </a:xfrm>
          <a:prstGeom prst="rect">
            <a:avLst/>
          </a:prstGeom>
        </p:spPr>
        <p:txBody>
          <a:bodyPr lIns="0" tIns="0" rIns="0" bIns="0" rtlCol="0" anchor="t">
            <a:spAutoFit/>
          </a:bodyPr>
          <a:lstStyle/>
          <a:p>
            <a:pPr marL="467678" lvl="1" indent="-233839" algn="just">
              <a:lnSpc>
                <a:spcPts val="3032"/>
              </a:lnSpc>
              <a:buFont typeface="Arial"/>
              <a:buChar char="•"/>
            </a:pPr>
            <a:r>
              <a:rPr lang="en-US" sz="2166">
                <a:solidFill>
                  <a:srgbClr val="000000"/>
                </a:solidFill>
                <a:latin typeface="Roboto Slab"/>
                <a:ea typeface="Roboto Slab"/>
                <a:cs typeface="Roboto Slab"/>
                <a:sym typeface="Roboto Slab"/>
              </a:rPr>
              <a:t>Gộp nhiều coordinator &amp; workflow lại với nhau.</a:t>
            </a:r>
          </a:p>
          <a:p>
            <a:pPr marL="467678" lvl="1" indent="-233839" algn="just">
              <a:lnSpc>
                <a:spcPts val="3032"/>
              </a:lnSpc>
              <a:buFont typeface="Arial"/>
              <a:buChar char="•"/>
            </a:pPr>
            <a:r>
              <a:rPr lang="en-US" sz="2166">
                <a:solidFill>
                  <a:srgbClr val="000000"/>
                </a:solidFill>
                <a:latin typeface="Roboto Slab"/>
                <a:ea typeface="Roboto Slab"/>
                <a:cs typeface="Roboto Slab"/>
                <a:sym typeface="Roboto Slab"/>
              </a:rPr>
              <a:t>Dùng để quản lý, lập lịch các quy trình phức tạp ở cấp doanh nghiệp.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626329" y="1389939"/>
            <a:ext cx="8994142"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Quy trình làm việc của Oozie</a:t>
            </a:r>
          </a:p>
        </p:txBody>
      </p:sp>
      <p:grpSp>
        <p:nvGrpSpPr>
          <p:cNvPr id="3" name="Group 3"/>
          <p:cNvGrpSpPr/>
          <p:nvPr/>
        </p:nvGrpSpPr>
        <p:grpSpPr>
          <a:xfrm>
            <a:off x="2212888" y="2546722"/>
            <a:ext cx="13862224" cy="5808118"/>
            <a:chOff x="0" y="0"/>
            <a:chExt cx="4737844" cy="1985104"/>
          </a:xfrm>
        </p:grpSpPr>
        <p:sp>
          <p:nvSpPr>
            <p:cNvPr id="4" name="Freeform 4"/>
            <p:cNvSpPr/>
            <p:nvPr/>
          </p:nvSpPr>
          <p:spPr>
            <a:xfrm>
              <a:off x="0" y="0"/>
              <a:ext cx="4737844" cy="1985104"/>
            </a:xfrm>
            <a:custGeom>
              <a:avLst/>
              <a:gdLst/>
              <a:ahLst/>
              <a:cxnLst/>
              <a:rect l="l" t="t" r="r" b="b"/>
              <a:pathLst>
                <a:path w="4737844" h="1985104">
                  <a:moveTo>
                    <a:pt x="16755" y="0"/>
                  </a:moveTo>
                  <a:lnTo>
                    <a:pt x="4721089" y="0"/>
                  </a:lnTo>
                  <a:cubicBezTo>
                    <a:pt x="4730343" y="0"/>
                    <a:pt x="4737844" y="7501"/>
                    <a:pt x="4737844" y="16755"/>
                  </a:cubicBezTo>
                  <a:lnTo>
                    <a:pt x="4737844" y="1968349"/>
                  </a:lnTo>
                  <a:cubicBezTo>
                    <a:pt x="4737844" y="1977603"/>
                    <a:pt x="4730343" y="1985104"/>
                    <a:pt x="4721089" y="1985104"/>
                  </a:cubicBezTo>
                  <a:lnTo>
                    <a:pt x="16755" y="1985104"/>
                  </a:lnTo>
                  <a:cubicBezTo>
                    <a:pt x="7501" y="1985104"/>
                    <a:pt x="0" y="1977603"/>
                    <a:pt x="0" y="1968349"/>
                  </a:cubicBezTo>
                  <a:lnTo>
                    <a:pt x="0" y="16755"/>
                  </a:lnTo>
                  <a:cubicBezTo>
                    <a:pt x="0" y="7501"/>
                    <a:pt x="7501" y="0"/>
                    <a:pt x="16755" y="0"/>
                  </a:cubicBezTo>
                  <a:close/>
                </a:path>
              </a:pathLst>
            </a:custGeom>
            <a:solidFill>
              <a:srgbClr val="ECE1D7"/>
            </a:solidFill>
          </p:spPr>
        </p:sp>
        <p:sp>
          <p:nvSpPr>
            <p:cNvPr id="5" name="TextBox 5"/>
            <p:cNvSpPr txBox="1"/>
            <p:nvPr/>
          </p:nvSpPr>
          <p:spPr>
            <a:xfrm>
              <a:off x="0" y="-47625"/>
              <a:ext cx="4737844" cy="2032729"/>
            </a:xfrm>
            <a:prstGeom prst="rect">
              <a:avLst/>
            </a:prstGeom>
          </p:spPr>
          <p:txBody>
            <a:bodyPr lIns="50800" tIns="50800" rIns="50800" bIns="50800" rtlCol="0" anchor="ctr"/>
            <a:lstStyle/>
            <a:p>
              <a:pPr algn="ctr">
                <a:lnSpc>
                  <a:spcPts val="3032"/>
                </a:lnSpc>
              </a:pPr>
              <a:endParaRPr/>
            </a:p>
          </p:txBody>
        </p:sp>
      </p:grpSp>
      <p:sp>
        <p:nvSpPr>
          <p:cNvPr id="6" name="TextBox 6"/>
          <p:cNvSpPr txBox="1"/>
          <p:nvPr/>
        </p:nvSpPr>
        <p:spPr>
          <a:xfrm>
            <a:off x="2686812" y="3055296"/>
            <a:ext cx="12873175" cy="1234769"/>
          </a:xfrm>
          <a:prstGeom prst="rect">
            <a:avLst/>
          </a:prstGeom>
        </p:spPr>
        <p:txBody>
          <a:bodyPr lIns="0" tIns="0" rIns="0" bIns="0" rtlCol="0" anchor="t">
            <a:spAutoFit/>
          </a:bodyPr>
          <a:lstStyle/>
          <a:p>
            <a:pPr marL="515362" lvl="1" indent="-257681" algn="just">
              <a:lnSpc>
                <a:spcPts val="3341"/>
              </a:lnSpc>
              <a:buFont typeface="Arial"/>
              <a:buChar char="•"/>
            </a:pPr>
            <a:r>
              <a:rPr lang="en-US" sz="2387" b="1">
                <a:solidFill>
                  <a:srgbClr val="2D2261"/>
                </a:solidFill>
                <a:latin typeface="Red Hat Display Bold"/>
                <a:ea typeface="Red Hat Display Bold"/>
                <a:cs typeface="Red Hat Display Bold"/>
                <a:sym typeface="Red Hat Display Bold"/>
              </a:rPr>
              <a:t>Là một công việc Hadoop, gồm các nút hành động và điều khiển sắp xếp theo DAG (Directed Acyclic Graph) — đảm bảo công việc sau chỉ chạy khi công việc trước hoàn tất.</a:t>
            </a:r>
          </a:p>
        </p:txBody>
      </p:sp>
      <p:sp>
        <p:nvSpPr>
          <p:cNvPr id="7" name="Freeform 7"/>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8" name="Freeform 8"/>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9" name="Freeform 9"/>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2686812" y="4545697"/>
            <a:ext cx="12873175" cy="816199"/>
          </a:xfrm>
          <a:prstGeom prst="rect">
            <a:avLst/>
          </a:prstGeom>
        </p:spPr>
        <p:txBody>
          <a:bodyPr lIns="0" tIns="0" rIns="0" bIns="0" rtlCol="0" anchor="t">
            <a:spAutoFit/>
          </a:bodyPr>
          <a:lstStyle/>
          <a:p>
            <a:pPr marL="510857" lvl="1" indent="-255429" algn="just">
              <a:lnSpc>
                <a:spcPts val="3312"/>
              </a:lnSpc>
              <a:buFont typeface="Arial"/>
              <a:buChar char="•"/>
            </a:pPr>
            <a:r>
              <a:rPr lang="en-US" sz="2366" b="1">
                <a:solidFill>
                  <a:srgbClr val="2D2261"/>
                </a:solidFill>
                <a:latin typeface="Red Hat Display Bold"/>
                <a:ea typeface="Red Hat Display Bold"/>
                <a:cs typeface="Red Hat Display Bold"/>
                <a:sym typeface="Red Hat Display Bold"/>
              </a:rPr>
              <a:t>Mỗi hành động (action) có thể là: MapReduce, Pig, Hive, Sqoop, DistCp, Java app, Shell script hoặc Email.</a:t>
            </a:r>
          </a:p>
        </p:txBody>
      </p:sp>
      <p:sp>
        <p:nvSpPr>
          <p:cNvPr id="12" name="TextBox 12"/>
          <p:cNvSpPr txBox="1"/>
          <p:nvPr/>
        </p:nvSpPr>
        <p:spPr>
          <a:xfrm>
            <a:off x="2686812" y="5617529"/>
            <a:ext cx="12873175" cy="2073499"/>
          </a:xfrm>
          <a:prstGeom prst="rect">
            <a:avLst/>
          </a:prstGeom>
        </p:spPr>
        <p:txBody>
          <a:bodyPr lIns="0" tIns="0" rIns="0" bIns="0" rtlCol="0" anchor="t">
            <a:spAutoFit/>
          </a:bodyPr>
          <a:lstStyle/>
          <a:p>
            <a:pPr marL="510857" lvl="1" indent="-255429" algn="just">
              <a:lnSpc>
                <a:spcPts val="3312"/>
              </a:lnSpc>
              <a:buFont typeface="Arial"/>
              <a:buChar char="•"/>
            </a:pPr>
            <a:r>
              <a:rPr lang="en-US" sz="2366" b="1">
                <a:solidFill>
                  <a:srgbClr val="2D2261"/>
                </a:solidFill>
                <a:latin typeface="Red Hat Display Bold"/>
                <a:ea typeface="Red Hat Display Bold"/>
                <a:cs typeface="Red Hat Display Bold"/>
                <a:sym typeface="Red Hat Display Bold"/>
              </a:rPr>
              <a:t>Nút điều khiển (control nodes) quyết định luồng thực thi, gồm:</a:t>
            </a:r>
          </a:p>
          <a:p>
            <a:pPr algn="just">
              <a:lnSpc>
                <a:spcPts val="3312"/>
              </a:lnSpc>
            </a:pPr>
            <a:r>
              <a:rPr lang="en-US" sz="2366" b="1">
                <a:solidFill>
                  <a:srgbClr val="2D2261"/>
                </a:solidFill>
                <a:latin typeface="Red Hat Display Bold"/>
                <a:ea typeface="Red Hat Display Bold"/>
                <a:cs typeface="Red Hat Display Bold"/>
                <a:sym typeface="Red Hat Display Bold"/>
              </a:rPr>
              <a:t> → Start / End: xác định điểm bắt đầu &amp; kết thúc.</a:t>
            </a:r>
          </a:p>
          <a:p>
            <a:pPr algn="just">
              <a:lnSpc>
                <a:spcPts val="3312"/>
              </a:lnSpc>
            </a:pPr>
            <a:r>
              <a:rPr lang="en-US" sz="2366" b="1">
                <a:solidFill>
                  <a:srgbClr val="2D2261"/>
                </a:solidFill>
                <a:latin typeface="Red Hat Display Bold"/>
                <a:ea typeface="Red Hat Display Bold"/>
                <a:cs typeface="Red Hat Display Bold"/>
                <a:sym typeface="Red Hat Display Bold"/>
              </a:rPr>
              <a:t> → Fork / Join: cho phép chạy song song.</a:t>
            </a:r>
          </a:p>
          <a:p>
            <a:pPr algn="just">
              <a:lnSpc>
                <a:spcPts val="3312"/>
              </a:lnSpc>
            </a:pPr>
            <a:r>
              <a:rPr lang="en-US" sz="2366" b="1">
                <a:solidFill>
                  <a:srgbClr val="2D2261"/>
                </a:solidFill>
                <a:latin typeface="Red Hat Display Bold"/>
                <a:ea typeface="Red Hat Display Bold"/>
                <a:cs typeface="Red Hat Display Bold"/>
                <a:sym typeface="Red Hat Display Bold"/>
              </a:rPr>
              <a:t> → Decision: chọn nhánh thực thi dựa trên điều kiện.</a:t>
            </a:r>
          </a:p>
          <a:p>
            <a:pPr algn="just">
              <a:lnSpc>
                <a:spcPts val="3312"/>
              </a:lnSpc>
            </a:pPr>
            <a:endParaRPr lang="en-US" sz="2366" b="1">
              <a:solidFill>
                <a:srgbClr val="2D2261"/>
              </a:solidFill>
              <a:latin typeface="Red Hat Display Bold"/>
              <a:ea typeface="Red Hat Display Bold"/>
              <a:cs typeface="Red Hat Display Bold"/>
              <a:sym typeface="Red Hat Display Bold"/>
            </a:endParaRPr>
          </a:p>
        </p:txBody>
      </p:sp>
      <p:sp>
        <p:nvSpPr>
          <p:cNvPr id="13" name="TextBox 13"/>
          <p:cNvSpPr txBox="1"/>
          <p:nvPr/>
        </p:nvSpPr>
        <p:spPr>
          <a:xfrm>
            <a:off x="2686812" y="7473428"/>
            <a:ext cx="13862224" cy="397099"/>
          </a:xfrm>
          <a:prstGeom prst="rect">
            <a:avLst/>
          </a:prstGeom>
        </p:spPr>
        <p:txBody>
          <a:bodyPr lIns="0" tIns="0" rIns="0" bIns="0" rtlCol="0" anchor="t">
            <a:spAutoFit/>
          </a:bodyPr>
          <a:lstStyle/>
          <a:p>
            <a:pPr marL="510857" lvl="1" indent="-255429" algn="just">
              <a:lnSpc>
                <a:spcPts val="3312"/>
              </a:lnSpc>
              <a:buFont typeface="Arial"/>
              <a:buChar char="•"/>
            </a:pPr>
            <a:r>
              <a:rPr lang="en-US" sz="2366" b="1">
                <a:solidFill>
                  <a:srgbClr val="2D2261"/>
                </a:solidFill>
                <a:latin typeface="Red Hat Display Bold"/>
                <a:ea typeface="Red Hat Display Bold"/>
                <a:cs typeface="Red Hat Display Bold"/>
                <a:sym typeface="Red Hat Display Bold"/>
              </a:rPr>
              <a:t>Workflow là đồ thị không tuần hoàn (DAG) → không hỗ trợ vòng lặp.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646929" y="1479005"/>
            <a:ext cx="8994142"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Quy trình làm việc của Oozie</a:t>
            </a:r>
          </a:p>
        </p:txBody>
      </p:sp>
      <p:sp>
        <p:nvSpPr>
          <p:cNvPr id="3" name="Freeform 3"/>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5" name="Freeform 5"/>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2692022" y="3783954"/>
            <a:ext cx="12475257" cy="4007676"/>
          </a:xfrm>
          <a:custGeom>
            <a:avLst/>
            <a:gdLst/>
            <a:ahLst/>
            <a:cxnLst/>
            <a:rect l="l" t="t" r="r" b="b"/>
            <a:pathLst>
              <a:path w="12475257" h="4007676">
                <a:moveTo>
                  <a:pt x="0" y="0"/>
                </a:moveTo>
                <a:lnTo>
                  <a:pt x="12475257" y="0"/>
                </a:lnTo>
                <a:lnTo>
                  <a:pt x="12475257" y="4007676"/>
                </a:lnTo>
                <a:lnTo>
                  <a:pt x="0" y="4007676"/>
                </a:lnTo>
                <a:lnTo>
                  <a:pt x="0" y="0"/>
                </a:lnTo>
                <a:close/>
              </a:path>
            </a:pathLst>
          </a:custGeom>
          <a:blipFill>
            <a:blip r:embed="rId10"/>
            <a:stretch>
              <a:fillRect/>
            </a:stretch>
          </a:blipFill>
        </p:spPr>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1396026" y="1239636"/>
            <a:ext cx="8994142"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Tính năng nổi bật của Oozie</a:t>
            </a:r>
          </a:p>
        </p:txBody>
      </p:sp>
      <p:sp>
        <p:nvSpPr>
          <p:cNvPr id="3" name="Freeform 3"/>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5" name="Freeform 5"/>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2212888" y="1967794"/>
            <a:ext cx="13862224" cy="3982268"/>
            <a:chOff x="0" y="0"/>
            <a:chExt cx="4737844" cy="1361063"/>
          </a:xfrm>
        </p:grpSpPr>
        <p:sp>
          <p:nvSpPr>
            <p:cNvPr id="8" name="Freeform 8"/>
            <p:cNvSpPr/>
            <p:nvPr/>
          </p:nvSpPr>
          <p:spPr>
            <a:xfrm>
              <a:off x="0" y="0"/>
              <a:ext cx="4737844" cy="1361064"/>
            </a:xfrm>
            <a:custGeom>
              <a:avLst/>
              <a:gdLst/>
              <a:ahLst/>
              <a:cxnLst/>
              <a:rect l="l" t="t" r="r" b="b"/>
              <a:pathLst>
                <a:path w="4737844" h="1361064">
                  <a:moveTo>
                    <a:pt x="16755" y="0"/>
                  </a:moveTo>
                  <a:lnTo>
                    <a:pt x="4721089" y="0"/>
                  </a:lnTo>
                  <a:cubicBezTo>
                    <a:pt x="4730343" y="0"/>
                    <a:pt x="4737844" y="7501"/>
                    <a:pt x="4737844" y="16755"/>
                  </a:cubicBezTo>
                  <a:lnTo>
                    <a:pt x="4737844" y="1344309"/>
                  </a:lnTo>
                  <a:cubicBezTo>
                    <a:pt x="4737844" y="1353562"/>
                    <a:pt x="4730343" y="1361064"/>
                    <a:pt x="4721089" y="1361064"/>
                  </a:cubicBezTo>
                  <a:lnTo>
                    <a:pt x="16755" y="1361064"/>
                  </a:lnTo>
                  <a:cubicBezTo>
                    <a:pt x="7501" y="1361064"/>
                    <a:pt x="0" y="1353562"/>
                    <a:pt x="0" y="1344309"/>
                  </a:cubicBezTo>
                  <a:lnTo>
                    <a:pt x="0" y="16755"/>
                  </a:lnTo>
                  <a:cubicBezTo>
                    <a:pt x="0" y="7501"/>
                    <a:pt x="7501" y="0"/>
                    <a:pt x="16755" y="0"/>
                  </a:cubicBezTo>
                  <a:close/>
                </a:path>
              </a:pathLst>
            </a:custGeom>
            <a:solidFill>
              <a:srgbClr val="ECE1D7"/>
            </a:solidFill>
          </p:spPr>
        </p:sp>
        <p:sp>
          <p:nvSpPr>
            <p:cNvPr id="9" name="TextBox 9"/>
            <p:cNvSpPr txBox="1"/>
            <p:nvPr/>
          </p:nvSpPr>
          <p:spPr>
            <a:xfrm>
              <a:off x="0" y="-47625"/>
              <a:ext cx="4737844" cy="1408688"/>
            </a:xfrm>
            <a:prstGeom prst="rect">
              <a:avLst/>
            </a:prstGeom>
          </p:spPr>
          <p:txBody>
            <a:bodyPr lIns="50800" tIns="50800" rIns="50800" bIns="50800" rtlCol="0" anchor="ctr"/>
            <a:lstStyle/>
            <a:p>
              <a:pPr algn="ctr">
                <a:lnSpc>
                  <a:spcPts val="3032"/>
                </a:lnSpc>
              </a:pPr>
              <a:endParaRPr/>
            </a:p>
          </p:txBody>
        </p:sp>
      </p:grpSp>
      <p:sp>
        <p:nvSpPr>
          <p:cNvPr id="10" name="TextBox 10"/>
          <p:cNvSpPr txBox="1"/>
          <p:nvPr/>
        </p:nvSpPr>
        <p:spPr>
          <a:xfrm>
            <a:off x="2595948" y="2390049"/>
            <a:ext cx="13096103" cy="3119345"/>
          </a:xfrm>
          <a:prstGeom prst="rect">
            <a:avLst/>
          </a:prstGeom>
        </p:spPr>
        <p:txBody>
          <a:bodyPr lIns="0" tIns="0" rIns="0" bIns="0" rtlCol="0" anchor="t">
            <a:spAutoFit/>
          </a:bodyPr>
          <a:lstStyle/>
          <a:p>
            <a:pPr algn="just">
              <a:lnSpc>
                <a:spcPts val="4992"/>
              </a:lnSpc>
            </a:pPr>
            <a:r>
              <a:rPr lang="en-US" sz="3566">
                <a:solidFill>
                  <a:srgbClr val="2D2261"/>
                </a:solidFill>
                <a:latin typeface="Red Hat Display"/>
                <a:ea typeface="Red Hat Display"/>
                <a:cs typeface="Red Hat Display"/>
                <a:sym typeface="Red Hat Display"/>
              </a:rPr>
              <a:t>🔗 Tích hợp sâu với Hadoop</a:t>
            </a:r>
          </a:p>
          <a:p>
            <a:pPr algn="just">
              <a:lnSpc>
                <a:spcPts val="4992"/>
              </a:lnSpc>
            </a:pPr>
            <a:r>
              <a:rPr lang="en-US" sz="3566">
                <a:solidFill>
                  <a:srgbClr val="2D2261"/>
                </a:solidFill>
                <a:latin typeface="Red Hat Display"/>
                <a:ea typeface="Red Hat Display"/>
                <a:cs typeface="Red Hat Display"/>
                <a:sym typeface="Red Hat Display"/>
              </a:rPr>
              <a:t>🕒 Lập lịch linh hoạt</a:t>
            </a:r>
          </a:p>
          <a:p>
            <a:pPr algn="just">
              <a:lnSpc>
                <a:spcPts val="4992"/>
              </a:lnSpc>
            </a:pPr>
            <a:r>
              <a:rPr lang="en-US" sz="3566">
                <a:solidFill>
                  <a:srgbClr val="2D2261"/>
                </a:solidFill>
                <a:latin typeface="Red Hat Display"/>
                <a:ea typeface="Red Hat Display"/>
                <a:cs typeface="Red Hat Display"/>
                <a:sym typeface="Red Hat Display"/>
              </a:rPr>
              <a:t>🚀 Khả năng mở rộng</a:t>
            </a:r>
          </a:p>
          <a:p>
            <a:pPr algn="just">
              <a:lnSpc>
                <a:spcPts val="4992"/>
              </a:lnSpc>
            </a:pPr>
            <a:r>
              <a:rPr lang="en-US" sz="3566">
                <a:solidFill>
                  <a:srgbClr val="2D2261"/>
                </a:solidFill>
                <a:latin typeface="Red Hat Display"/>
                <a:ea typeface="Red Hat Display"/>
                <a:cs typeface="Red Hat Display"/>
                <a:sym typeface="Red Hat Display"/>
              </a:rPr>
              <a:t>🌐 Giao diện quản lý</a:t>
            </a:r>
          </a:p>
          <a:p>
            <a:pPr algn="just">
              <a:lnSpc>
                <a:spcPts val="4992"/>
              </a:lnSpc>
            </a:pPr>
            <a:r>
              <a:rPr lang="en-US" sz="3566">
                <a:solidFill>
                  <a:srgbClr val="2D2261"/>
                </a:solidFill>
                <a:latin typeface="Red Hat Display"/>
                <a:ea typeface="Red Hat Display"/>
                <a:cs typeface="Red Hat Display"/>
                <a:sym typeface="Red Hat Display"/>
              </a:rPr>
              <a:t>🧩 Xử lý lỗi thông minh</a:t>
            </a:r>
          </a:p>
        </p:txBody>
      </p:sp>
      <p:sp>
        <p:nvSpPr>
          <p:cNvPr id="11" name="TextBox 11"/>
          <p:cNvSpPr txBox="1"/>
          <p:nvPr/>
        </p:nvSpPr>
        <p:spPr>
          <a:xfrm>
            <a:off x="880432" y="6081256"/>
            <a:ext cx="8994142"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Ưu điểm và nhược điểm</a:t>
            </a:r>
          </a:p>
        </p:txBody>
      </p:sp>
      <p:grpSp>
        <p:nvGrpSpPr>
          <p:cNvPr id="12" name="Group 12"/>
          <p:cNvGrpSpPr/>
          <p:nvPr/>
        </p:nvGrpSpPr>
        <p:grpSpPr>
          <a:xfrm>
            <a:off x="2190068" y="6809414"/>
            <a:ext cx="6739582" cy="2843763"/>
            <a:chOff x="0" y="0"/>
            <a:chExt cx="2303461" cy="971944"/>
          </a:xfrm>
        </p:grpSpPr>
        <p:sp>
          <p:nvSpPr>
            <p:cNvPr id="13" name="Freeform 13"/>
            <p:cNvSpPr/>
            <p:nvPr/>
          </p:nvSpPr>
          <p:spPr>
            <a:xfrm>
              <a:off x="0" y="0"/>
              <a:ext cx="2303461" cy="971944"/>
            </a:xfrm>
            <a:custGeom>
              <a:avLst/>
              <a:gdLst/>
              <a:ahLst/>
              <a:cxnLst/>
              <a:rect l="l" t="t" r="r" b="b"/>
              <a:pathLst>
                <a:path w="2303461" h="971944">
                  <a:moveTo>
                    <a:pt x="34462" y="0"/>
                  </a:moveTo>
                  <a:lnTo>
                    <a:pt x="2268999" y="0"/>
                  </a:lnTo>
                  <a:cubicBezTo>
                    <a:pt x="2288032" y="0"/>
                    <a:pt x="2303461" y="15429"/>
                    <a:pt x="2303461" y="34462"/>
                  </a:cubicBezTo>
                  <a:lnTo>
                    <a:pt x="2303461" y="937482"/>
                  </a:lnTo>
                  <a:cubicBezTo>
                    <a:pt x="2303461" y="946622"/>
                    <a:pt x="2299830" y="955388"/>
                    <a:pt x="2293367" y="961850"/>
                  </a:cubicBezTo>
                  <a:cubicBezTo>
                    <a:pt x="2286904" y="968313"/>
                    <a:pt x="2278139" y="971944"/>
                    <a:pt x="2268999" y="971944"/>
                  </a:cubicBezTo>
                  <a:lnTo>
                    <a:pt x="34462" y="971944"/>
                  </a:lnTo>
                  <a:cubicBezTo>
                    <a:pt x="15429" y="971944"/>
                    <a:pt x="0" y="956515"/>
                    <a:pt x="0" y="937482"/>
                  </a:cubicBezTo>
                  <a:lnTo>
                    <a:pt x="0" y="34462"/>
                  </a:lnTo>
                  <a:cubicBezTo>
                    <a:pt x="0" y="15429"/>
                    <a:pt x="15429" y="0"/>
                    <a:pt x="34462" y="0"/>
                  </a:cubicBezTo>
                  <a:close/>
                </a:path>
              </a:pathLst>
            </a:custGeom>
            <a:solidFill>
              <a:srgbClr val="ECE1D7"/>
            </a:solidFill>
          </p:spPr>
        </p:sp>
        <p:sp>
          <p:nvSpPr>
            <p:cNvPr id="14" name="TextBox 14"/>
            <p:cNvSpPr txBox="1"/>
            <p:nvPr/>
          </p:nvSpPr>
          <p:spPr>
            <a:xfrm>
              <a:off x="0" y="-47625"/>
              <a:ext cx="2303461" cy="1019569"/>
            </a:xfrm>
            <a:prstGeom prst="rect">
              <a:avLst/>
            </a:prstGeom>
          </p:spPr>
          <p:txBody>
            <a:bodyPr lIns="50800" tIns="50800" rIns="50800" bIns="50800" rtlCol="0" anchor="ctr"/>
            <a:lstStyle/>
            <a:p>
              <a:pPr algn="ctr">
                <a:lnSpc>
                  <a:spcPts val="3032"/>
                </a:lnSpc>
              </a:pPr>
              <a:endParaRPr/>
            </a:p>
          </p:txBody>
        </p:sp>
      </p:grpSp>
      <p:sp>
        <p:nvSpPr>
          <p:cNvPr id="15" name="TextBox 15"/>
          <p:cNvSpPr txBox="1"/>
          <p:nvPr/>
        </p:nvSpPr>
        <p:spPr>
          <a:xfrm>
            <a:off x="2469435" y="7021826"/>
            <a:ext cx="6180849" cy="2380839"/>
          </a:xfrm>
          <a:prstGeom prst="rect">
            <a:avLst/>
          </a:prstGeom>
        </p:spPr>
        <p:txBody>
          <a:bodyPr lIns="0" tIns="0" rIns="0" bIns="0" rtlCol="0" anchor="t">
            <a:spAutoFit/>
          </a:bodyPr>
          <a:lstStyle/>
          <a:p>
            <a:pPr algn="just">
              <a:lnSpc>
                <a:spcPts val="3172"/>
              </a:lnSpc>
              <a:spcBef>
                <a:spcPct val="0"/>
              </a:spcBef>
            </a:pPr>
            <a:r>
              <a:rPr lang="en-US" sz="2266">
                <a:solidFill>
                  <a:srgbClr val="2D2261"/>
                </a:solidFill>
                <a:latin typeface="Roboto Slab"/>
                <a:ea typeface="Roboto Slab"/>
                <a:cs typeface="Roboto Slab"/>
                <a:sym typeface="Roboto Slab"/>
              </a:rPr>
              <a:t>Ưu điểm:</a:t>
            </a:r>
          </a:p>
          <a:p>
            <a:pPr algn="just">
              <a:lnSpc>
                <a:spcPts val="3172"/>
              </a:lnSpc>
              <a:spcBef>
                <a:spcPct val="0"/>
              </a:spcBef>
            </a:pPr>
            <a:r>
              <a:rPr lang="en-US" sz="2266">
                <a:solidFill>
                  <a:srgbClr val="2D2261"/>
                </a:solidFill>
                <a:latin typeface="Roboto Slab"/>
                <a:ea typeface="Roboto Slab"/>
                <a:cs typeface="Roboto Slab"/>
                <a:sym typeface="Roboto Slab"/>
              </a:rPr>
              <a:t> ✅ Tự động hóa luồng công việc phức tạp.</a:t>
            </a:r>
          </a:p>
          <a:p>
            <a:pPr algn="just">
              <a:lnSpc>
                <a:spcPts val="3172"/>
              </a:lnSpc>
              <a:spcBef>
                <a:spcPct val="0"/>
              </a:spcBef>
            </a:pPr>
            <a:r>
              <a:rPr lang="en-US" sz="2266">
                <a:solidFill>
                  <a:srgbClr val="2D2261"/>
                </a:solidFill>
                <a:latin typeface="Roboto Slab"/>
                <a:ea typeface="Roboto Slab"/>
                <a:cs typeface="Roboto Slab"/>
                <a:sym typeface="Roboto Slab"/>
              </a:rPr>
              <a:t> ✅ Tiết kiệm thời gian quản lý phụ thuộc (dependencies).</a:t>
            </a:r>
          </a:p>
          <a:p>
            <a:pPr algn="just">
              <a:lnSpc>
                <a:spcPts val="3172"/>
              </a:lnSpc>
              <a:spcBef>
                <a:spcPct val="0"/>
              </a:spcBef>
            </a:pPr>
            <a:r>
              <a:rPr lang="en-US" sz="2266">
                <a:solidFill>
                  <a:srgbClr val="2D2261"/>
                </a:solidFill>
                <a:latin typeface="Roboto Slab"/>
                <a:ea typeface="Roboto Slab"/>
                <a:cs typeface="Roboto Slab"/>
                <a:sym typeface="Roboto Slab"/>
              </a:rPr>
              <a:t> ✅ Phù hợp cho môi trường doanh nghiệp lớn.</a:t>
            </a:r>
          </a:p>
        </p:txBody>
      </p:sp>
      <p:grpSp>
        <p:nvGrpSpPr>
          <p:cNvPr id="16" name="Group 16"/>
          <p:cNvGrpSpPr/>
          <p:nvPr/>
        </p:nvGrpSpPr>
        <p:grpSpPr>
          <a:xfrm>
            <a:off x="9144000" y="6788626"/>
            <a:ext cx="6739582" cy="2843763"/>
            <a:chOff x="0" y="0"/>
            <a:chExt cx="2303461" cy="971944"/>
          </a:xfrm>
        </p:grpSpPr>
        <p:sp>
          <p:nvSpPr>
            <p:cNvPr id="17" name="Freeform 17"/>
            <p:cNvSpPr/>
            <p:nvPr/>
          </p:nvSpPr>
          <p:spPr>
            <a:xfrm>
              <a:off x="0" y="0"/>
              <a:ext cx="2303461" cy="971944"/>
            </a:xfrm>
            <a:custGeom>
              <a:avLst/>
              <a:gdLst/>
              <a:ahLst/>
              <a:cxnLst/>
              <a:rect l="l" t="t" r="r" b="b"/>
              <a:pathLst>
                <a:path w="2303461" h="971944">
                  <a:moveTo>
                    <a:pt x="34462" y="0"/>
                  </a:moveTo>
                  <a:lnTo>
                    <a:pt x="2268999" y="0"/>
                  </a:lnTo>
                  <a:cubicBezTo>
                    <a:pt x="2288032" y="0"/>
                    <a:pt x="2303461" y="15429"/>
                    <a:pt x="2303461" y="34462"/>
                  </a:cubicBezTo>
                  <a:lnTo>
                    <a:pt x="2303461" y="937482"/>
                  </a:lnTo>
                  <a:cubicBezTo>
                    <a:pt x="2303461" y="946622"/>
                    <a:pt x="2299830" y="955388"/>
                    <a:pt x="2293367" y="961850"/>
                  </a:cubicBezTo>
                  <a:cubicBezTo>
                    <a:pt x="2286904" y="968313"/>
                    <a:pt x="2278139" y="971944"/>
                    <a:pt x="2268999" y="971944"/>
                  </a:cubicBezTo>
                  <a:lnTo>
                    <a:pt x="34462" y="971944"/>
                  </a:lnTo>
                  <a:cubicBezTo>
                    <a:pt x="15429" y="971944"/>
                    <a:pt x="0" y="956515"/>
                    <a:pt x="0" y="937482"/>
                  </a:cubicBezTo>
                  <a:lnTo>
                    <a:pt x="0" y="34462"/>
                  </a:lnTo>
                  <a:cubicBezTo>
                    <a:pt x="0" y="15429"/>
                    <a:pt x="15429" y="0"/>
                    <a:pt x="34462" y="0"/>
                  </a:cubicBezTo>
                  <a:close/>
                </a:path>
              </a:pathLst>
            </a:custGeom>
            <a:solidFill>
              <a:srgbClr val="ECE1D7"/>
            </a:solidFill>
          </p:spPr>
        </p:sp>
        <p:sp>
          <p:nvSpPr>
            <p:cNvPr id="18" name="TextBox 18"/>
            <p:cNvSpPr txBox="1"/>
            <p:nvPr/>
          </p:nvSpPr>
          <p:spPr>
            <a:xfrm>
              <a:off x="0" y="-47625"/>
              <a:ext cx="2303461" cy="1019569"/>
            </a:xfrm>
            <a:prstGeom prst="rect">
              <a:avLst/>
            </a:prstGeom>
          </p:spPr>
          <p:txBody>
            <a:bodyPr lIns="50800" tIns="50800" rIns="50800" bIns="50800" rtlCol="0" anchor="ctr"/>
            <a:lstStyle/>
            <a:p>
              <a:pPr algn="ctr">
                <a:lnSpc>
                  <a:spcPts val="3032"/>
                </a:lnSpc>
              </a:pPr>
              <a:endParaRPr/>
            </a:p>
          </p:txBody>
        </p:sp>
      </p:grpSp>
      <p:sp>
        <p:nvSpPr>
          <p:cNvPr id="19" name="TextBox 19"/>
          <p:cNvSpPr txBox="1"/>
          <p:nvPr/>
        </p:nvSpPr>
        <p:spPr>
          <a:xfrm>
            <a:off x="9366665" y="7021826"/>
            <a:ext cx="5876213" cy="1580739"/>
          </a:xfrm>
          <a:prstGeom prst="rect">
            <a:avLst/>
          </a:prstGeom>
        </p:spPr>
        <p:txBody>
          <a:bodyPr lIns="0" tIns="0" rIns="0" bIns="0" rtlCol="0" anchor="t">
            <a:spAutoFit/>
          </a:bodyPr>
          <a:lstStyle/>
          <a:p>
            <a:pPr algn="just">
              <a:lnSpc>
                <a:spcPts val="3172"/>
              </a:lnSpc>
              <a:spcBef>
                <a:spcPct val="0"/>
              </a:spcBef>
            </a:pPr>
            <a:r>
              <a:rPr lang="en-US" sz="2266">
                <a:solidFill>
                  <a:srgbClr val="2D2261"/>
                </a:solidFill>
                <a:latin typeface="Roboto Slab"/>
                <a:ea typeface="Roboto Slab"/>
                <a:cs typeface="Roboto Slab"/>
                <a:sym typeface="Roboto Slab"/>
              </a:rPr>
              <a:t>Hạn chế:</a:t>
            </a:r>
          </a:p>
          <a:p>
            <a:pPr algn="just">
              <a:lnSpc>
                <a:spcPts val="3172"/>
              </a:lnSpc>
              <a:spcBef>
                <a:spcPct val="0"/>
              </a:spcBef>
            </a:pPr>
            <a:r>
              <a:rPr lang="en-US" sz="2266">
                <a:solidFill>
                  <a:srgbClr val="2D2261"/>
                </a:solidFill>
                <a:latin typeface="Roboto Slab"/>
                <a:ea typeface="Roboto Slab"/>
                <a:cs typeface="Roboto Slab"/>
                <a:sym typeface="Roboto Slab"/>
              </a:rPr>
              <a:t> ⚠️ Việc viết XML phức tạp với người mới.</a:t>
            </a:r>
          </a:p>
          <a:p>
            <a:pPr algn="just">
              <a:lnSpc>
                <a:spcPts val="3172"/>
              </a:lnSpc>
              <a:spcBef>
                <a:spcPct val="0"/>
              </a:spcBef>
            </a:pPr>
            <a:r>
              <a:rPr lang="en-US" sz="2266">
                <a:solidFill>
                  <a:srgbClr val="2D2261"/>
                </a:solidFill>
                <a:latin typeface="Roboto Slab"/>
                <a:ea typeface="Roboto Slab"/>
                <a:cs typeface="Roboto Slab"/>
                <a:sym typeface="Roboto Slab"/>
              </a:rPr>
              <a:t> ⚠️ Hiệu suất giảm nếu không tối ưu trong hệ thống cực lớn.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626329" y="1389939"/>
            <a:ext cx="8994142"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So Sánh Với Các Công Cụ Khác</a:t>
            </a:r>
          </a:p>
        </p:txBody>
      </p:sp>
      <p:sp>
        <p:nvSpPr>
          <p:cNvPr id="3" name="Freeform 3"/>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5" name="Freeform 5"/>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aphicFrame>
        <p:nvGraphicFramePr>
          <p:cNvPr id="8" name="Table 7">
            <a:extLst>
              <a:ext uri="{FF2B5EF4-FFF2-40B4-BE49-F238E27FC236}">
                <a16:creationId xmlns:a16="http://schemas.microsoft.com/office/drawing/2014/main" id="{8214E2EC-FA53-20B0-063C-042829138DBF}"/>
              </a:ext>
            </a:extLst>
          </p:cNvPr>
          <p:cNvGraphicFramePr>
            <a:graphicFrameLocks noGrp="1"/>
          </p:cNvGraphicFramePr>
          <p:nvPr>
            <p:extLst>
              <p:ext uri="{D42A27DB-BD31-4B8C-83A1-F6EECF244321}">
                <p14:modId xmlns:p14="http://schemas.microsoft.com/office/powerpoint/2010/main" val="1028655424"/>
              </p:ext>
            </p:extLst>
          </p:nvPr>
        </p:nvGraphicFramePr>
        <p:xfrm>
          <a:off x="2990957" y="2610813"/>
          <a:ext cx="12264885" cy="6469756"/>
        </p:xfrm>
        <a:graphic>
          <a:graphicData uri="http://schemas.openxmlformats.org/drawingml/2006/table">
            <a:tbl>
              <a:tblPr/>
              <a:tblGrid>
                <a:gridCol w="4088295">
                  <a:extLst>
                    <a:ext uri="{9D8B030D-6E8A-4147-A177-3AD203B41FA5}">
                      <a16:colId xmlns:a16="http://schemas.microsoft.com/office/drawing/2014/main" val="2853620203"/>
                    </a:ext>
                  </a:extLst>
                </a:gridCol>
                <a:gridCol w="4088295">
                  <a:extLst>
                    <a:ext uri="{9D8B030D-6E8A-4147-A177-3AD203B41FA5}">
                      <a16:colId xmlns:a16="http://schemas.microsoft.com/office/drawing/2014/main" val="1859903991"/>
                    </a:ext>
                  </a:extLst>
                </a:gridCol>
                <a:gridCol w="4088295">
                  <a:extLst>
                    <a:ext uri="{9D8B030D-6E8A-4147-A177-3AD203B41FA5}">
                      <a16:colId xmlns:a16="http://schemas.microsoft.com/office/drawing/2014/main" val="144382472"/>
                    </a:ext>
                  </a:extLst>
                </a:gridCol>
              </a:tblGrid>
              <a:tr h="881445">
                <a:tc>
                  <a:txBody>
                    <a:bodyPr/>
                    <a:lstStyle/>
                    <a:p>
                      <a:r>
                        <a:rPr lang="en-US" sz="2800" b="1">
                          <a:effectLst/>
                        </a:rPr>
                        <a:t>Tiêu Chí</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b="1" dirty="0">
                          <a:effectLst/>
                        </a:rPr>
                        <a:t>Apache Oozie</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b="1">
                          <a:effectLst/>
                        </a:rPr>
                        <a:t>Apache Airflow</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85893109"/>
                  </a:ext>
                </a:extLst>
              </a:tr>
              <a:tr h="1065288">
                <a:tc>
                  <a:txBody>
                    <a:bodyPr/>
                    <a:lstStyle/>
                    <a:p>
                      <a:r>
                        <a:rPr lang="en-US" sz="2800" b="1">
                          <a:effectLst/>
                        </a:rPr>
                        <a:t>Tích Hợp Hadoop</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a:effectLst/>
                        </a:rPr>
                        <a:t>Sâu, native cho YARN/MapReduce.</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a:effectLst/>
                        </a:rPr>
                        <a:t>Linh hoạt, hỗ trợ Hadoop qua plugin.</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90433706"/>
                  </a:ext>
                </a:extLst>
              </a:tr>
              <a:tr h="881445">
                <a:tc>
                  <a:txBody>
                    <a:bodyPr/>
                    <a:lstStyle/>
                    <a:p>
                      <a:r>
                        <a:rPr lang="en-US" sz="2800" b="1">
                          <a:effectLst/>
                        </a:rPr>
                        <a:t>Ngôn Ngữ Định Nghĩa</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a:effectLst/>
                        </a:rPr>
                        <a:t>XML (HPDL).</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a:effectLst/>
                        </a:rPr>
                        <a:t>Python (DAGs).</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45753071"/>
                  </a:ext>
                </a:extLst>
              </a:tr>
              <a:tr h="881445">
                <a:tc>
                  <a:txBody>
                    <a:bodyPr/>
                    <a:lstStyle/>
                    <a:p>
                      <a:r>
                        <a:rPr lang="en-US" sz="2800" b="1">
                          <a:effectLst/>
                        </a:rPr>
                        <a:t>Lập Lịch</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a:effectLst/>
                        </a:rPr>
                        <a:t>Thời gian + dữ liệu sẵn có.</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vi-VN" sz="2800">
                          <a:effectLst/>
                        </a:rPr>
                        <a:t>Thời gian, dữ liệu, và nhiều hơn.</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75467296"/>
                  </a:ext>
                </a:extLst>
              </a:tr>
              <a:tr h="881445">
                <a:tc>
                  <a:txBody>
                    <a:bodyPr/>
                    <a:lstStyle/>
                    <a:p>
                      <a:r>
                        <a:rPr lang="en-US" sz="2800" b="1">
                          <a:effectLst/>
                        </a:rPr>
                        <a:t>Mở Rộng</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a:effectLst/>
                        </a:rPr>
                        <a:t>Tốt cho Hadoop lớn.</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a:effectLst/>
                        </a:rPr>
                        <a:t>Rất linh hoạt, đa nền tảng.</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78343724"/>
                  </a:ext>
                </a:extLst>
              </a:tr>
              <a:tr h="881445">
                <a:tc>
                  <a:txBody>
                    <a:bodyPr/>
                    <a:lstStyle/>
                    <a:p>
                      <a:r>
                        <a:rPr lang="en-US" sz="2800" b="1">
                          <a:effectLst/>
                        </a:rPr>
                        <a:t>Trạng Thái</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a:effectLst/>
                        </a:rPr>
                        <a:t>Retired (2025).</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a:effectLst/>
                        </a:rPr>
                        <a:t>Hoạt động tích cực.</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8355314"/>
                  </a:ext>
                </a:extLst>
              </a:tr>
              <a:tr h="881445">
                <a:tc>
                  <a:txBody>
                    <a:bodyPr/>
                    <a:lstStyle/>
                    <a:p>
                      <a:r>
                        <a:rPr lang="en-US" sz="2800" b="1" dirty="0" err="1">
                          <a:effectLst/>
                        </a:rPr>
                        <a:t>Dễ</a:t>
                      </a:r>
                      <a:r>
                        <a:rPr lang="en-US" sz="2800" b="1" dirty="0">
                          <a:effectLst/>
                        </a:rPr>
                        <a:t> </a:t>
                      </a:r>
                      <a:r>
                        <a:rPr lang="en-US" sz="2800" b="1" dirty="0" err="1">
                          <a:effectLst/>
                        </a:rPr>
                        <a:t>Sử</a:t>
                      </a:r>
                      <a:r>
                        <a:rPr lang="en-US" sz="2800" b="1" dirty="0">
                          <a:effectLst/>
                        </a:rPr>
                        <a:t> </a:t>
                      </a:r>
                      <a:r>
                        <a:rPr lang="en-US" sz="2800" b="1" dirty="0" err="1">
                          <a:effectLst/>
                        </a:rPr>
                        <a:t>Dụng</a:t>
                      </a:r>
                      <a:endParaRPr lang="en-US" sz="2800" b="1" dirty="0">
                        <a:effectLst/>
                      </a:endParaRP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vi-VN" sz="2800">
                          <a:effectLst/>
                        </a:rPr>
                        <a:t>Trung bình (cần editor như Hue).</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n-US" sz="2800" dirty="0">
                          <a:effectLst/>
                        </a:rPr>
                        <a:t>Cao (Python-based).</a:t>
                      </a:r>
                    </a:p>
                  </a:txBody>
                  <a:tcPr marL="85903" marR="85903" marT="42952" marB="42952"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58769387"/>
                  </a:ext>
                </a:extLst>
              </a:tr>
            </a:tbl>
          </a:graphicData>
        </a:graphic>
      </p:graphicFrame>
      <p:sp>
        <p:nvSpPr>
          <p:cNvPr id="9" name="Rectangle 1">
            <a:extLst>
              <a:ext uri="{FF2B5EF4-FFF2-40B4-BE49-F238E27FC236}">
                <a16:creationId xmlns:a16="http://schemas.microsoft.com/office/drawing/2014/main" id="{CB091521-882D-C8D8-BB3F-0F6CDF7B776B}"/>
              </a:ext>
            </a:extLst>
          </p:cNvPr>
          <p:cNvSpPr>
            <a:spLocks noChangeArrowheads="1"/>
          </p:cNvSpPr>
          <p:nvPr/>
        </p:nvSpPr>
        <p:spPr bwMode="auto">
          <a:xfrm>
            <a:off x="4626408" y="3267655"/>
            <a:ext cx="260074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264475" y="1430836"/>
            <a:ext cx="9759051"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Ứng dụng của Oozie</a:t>
            </a:r>
          </a:p>
        </p:txBody>
      </p:sp>
      <p:sp>
        <p:nvSpPr>
          <p:cNvPr id="3" name="Freeform 3"/>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5" name="Freeform 5"/>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2281895" y="2529972"/>
            <a:ext cx="13280299" cy="5882203"/>
            <a:chOff x="0" y="0"/>
            <a:chExt cx="3497692" cy="1549222"/>
          </a:xfrm>
        </p:grpSpPr>
        <p:sp>
          <p:nvSpPr>
            <p:cNvPr id="8" name="Freeform 8"/>
            <p:cNvSpPr/>
            <p:nvPr/>
          </p:nvSpPr>
          <p:spPr>
            <a:xfrm>
              <a:off x="0" y="0"/>
              <a:ext cx="3497692" cy="1549222"/>
            </a:xfrm>
            <a:custGeom>
              <a:avLst/>
              <a:gdLst/>
              <a:ahLst/>
              <a:cxnLst/>
              <a:rect l="l" t="t" r="r" b="b"/>
              <a:pathLst>
                <a:path w="3497692" h="1549222">
                  <a:moveTo>
                    <a:pt x="17489" y="0"/>
                  </a:moveTo>
                  <a:lnTo>
                    <a:pt x="3480203" y="0"/>
                  </a:lnTo>
                  <a:cubicBezTo>
                    <a:pt x="3484842" y="0"/>
                    <a:pt x="3489290" y="1843"/>
                    <a:pt x="3492569" y="5122"/>
                  </a:cubicBezTo>
                  <a:cubicBezTo>
                    <a:pt x="3495849" y="8402"/>
                    <a:pt x="3497692" y="12851"/>
                    <a:pt x="3497692" y="17489"/>
                  </a:cubicBezTo>
                  <a:lnTo>
                    <a:pt x="3497692" y="1531733"/>
                  </a:lnTo>
                  <a:cubicBezTo>
                    <a:pt x="3497692" y="1536372"/>
                    <a:pt x="3495849" y="1540820"/>
                    <a:pt x="3492569" y="1544100"/>
                  </a:cubicBezTo>
                  <a:cubicBezTo>
                    <a:pt x="3489290" y="1547379"/>
                    <a:pt x="3484842" y="1549222"/>
                    <a:pt x="3480203" y="1549222"/>
                  </a:cubicBezTo>
                  <a:lnTo>
                    <a:pt x="17489" y="1549222"/>
                  </a:lnTo>
                  <a:cubicBezTo>
                    <a:pt x="12851" y="1549222"/>
                    <a:pt x="8402" y="1547379"/>
                    <a:pt x="5122" y="1544100"/>
                  </a:cubicBezTo>
                  <a:cubicBezTo>
                    <a:pt x="1843" y="1540820"/>
                    <a:pt x="0" y="1536372"/>
                    <a:pt x="0" y="1531733"/>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9" name="TextBox 9"/>
            <p:cNvSpPr txBox="1"/>
            <p:nvPr/>
          </p:nvSpPr>
          <p:spPr>
            <a:xfrm>
              <a:off x="0" y="-47625"/>
              <a:ext cx="3497692" cy="1596847"/>
            </a:xfrm>
            <a:prstGeom prst="rect">
              <a:avLst/>
            </a:prstGeom>
          </p:spPr>
          <p:txBody>
            <a:bodyPr lIns="50800" tIns="50800" rIns="50800" bIns="50800" rtlCol="0" anchor="ctr"/>
            <a:lstStyle/>
            <a:p>
              <a:pPr algn="ctr">
                <a:lnSpc>
                  <a:spcPts val="3032"/>
                </a:lnSpc>
              </a:pPr>
              <a:endParaRPr/>
            </a:p>
          </p:txBody>
        </p:sp>
      </p:grpSp>
      <p:sp>
        <p:nvSpPr>
          <p:cNvPr id="10" name="TextBox 10"/>
          <p:cNvSpPr txBox="1"/>
          <p:nvPr/>
        </p:nvSpPr>
        <p:spPr>
          <a:xfrm>
            <a:off x="2809906" y="3781902"/>
            <a:ext cx="12239488" cy="4148268"/>
          </a:xfrm>
          <a:prstGeom prst="rect">
            <a:avLst/>
          </a:prstGeom>
        </p:spPr>
        <p:txBody>
          <a:bodyPr lIns="0" tIns="0" rIns="0" bIns="0" rtlCol="0" anchor="t">
            <a:spAutoFit/>
          </a:bodyPr>
          <a:lstStyle/>
          <a:p>
            <a:pPr marL="848997" lvl="1" indent="-424499" algn="just">
              <a:lnSpc>
                <a:spcPts val="5505"/>
              </a:lnSpc>
              <a:buFont typeface="Arial"/>
              <a:buChar char="•"/>
            </a:pPr>
            <a:r>
              <a:rPr lang="en-US" sz="3932" b="1">
                <a:solidFill>
                  <a:srgbClr val="FFFFFF"/>
                </a:solidFill>
                <a:latin typeface="Red Hat Display Bold"/>
                <a:ea typeface="Red Hat Display Bold"/>
                <a:cs typeface="Red Hat Display Bold"/>
                <a:sym typeface="Red Hat Display Bold"/>
              </a:rPr>
              <a:t>Xử lý dữ liệu lớn (Big Data Processing)</a:t>
            </a:r>
          </a:p>
          <a:p>
            <a:pPr algn="just">
              <a:lnSpc>
                <a:spcPts val="5505"/>
              </a:lnSpc>
            </a:pPr>
            <a:endParaRPr lang="en-US" sz="3932" b="1">
              <a:solidFill>
                <a:srgbClr val="FFFFFF"/>
              </a:solidFill>
              <a:latin typeface="Red Hat Display Bold"/>
              <a:ea typeface="Red Hat Display Bold"/>
              <a:cs typeface="Red Hat Display Bold"/>
              <a:sym typeface="Red Hat Display Bold"/>
            </a:endParaRPr>
          </a:p>
          <a:p>
            <a:pPr marL="848997" lvl="1" indent="-424499" algn="just">
              <a:lnSpc>
                <a:spcPts val="5505"/>
              </a:lnSpc>
              <a:buFont typeface="Arial"/>
              <a:buChar char="•"/>
            </a:pPr>
            <a:r>
              <a:rPr lang="en-US" sz="3932" b="1">
                <a:solidFill>
                  <a:srgbClr val="FFFFFF"/>
                </a:solidFill>
                <a:latin typeface="Red Hat Display Bold"/>
                <a:ea typeface="Red Hat Display Bold"/>
                <a:cs typeface="Red Hat Display Bold"/>
                <a:sym typeface="Red Hat Display Bold"/>
              </a:rPr>
              <a:t>Quản lý doanh nghiệp (Enterprise Scheduling)</a:t>
            </a:r>
          </a:p>
          <a:p>
            <a:pPr algn="just">
              <a:lnSpc>
                <a:spcPts val="5505"/>
              </a:lnSpc>
            </a:pPr>
            <a:endParaRPr lang="en-US" sz="3932" b="1">
              <a:solidFill>
                <a:srgbClr val="FFFFFF"/>
              </a:solidFill>
              <a:latin typeface="Red Hat Display Bold"/>
              <a:ea typeface="Red Hat Display Bold"/>
              <a:cs typeface="Red Hat Display Bold"/>
              <a:sym typeface="Red Hat Display Bold"/>
            </a:endParaRPr>
          </a:p>
          <a:p>
            <a:pPr marL="848997" lvl="1" indent="-424499" algn="just">
              <a:lnSpc>
                <a:spcPts val="5505"/>
              </a:lnSpc>
              <a:buFont typeface="Arial"/>
              <a:buChar char="•"/>
            </a:pPr>
            <a:r>
              <a:rPr lang="en-US" sz="3932" b="1">
                <a:solidFill>
                  <a:srgbClr val="FFFFFF"/>
                </a:solidFill>
                <a:latin typeface="Red Hat Display Bold"/>
                <a:ea typeface="Red Hat Display Bold"/>
                <a:cs typeface="Red Hat Display Bold"/>
                <a:sym typeface="Red Hat Display Bold"/>
              </a:rPr>
              <a:t>Hỗ trợ phát triển Hadoop</a:t>
            </a:r>
          </a:p>
          <a:p>
            <a:pPr algn="just">
              <a:lnSpc>
                <a:spcPts val="5505"/>
              </a:lnSpc>
            </a:pPr>
            <a:endParaRPr lang="en-US" sz="3932" b="1">
              <a:solidFill>
                <a:srgbClr val="FFFFFF"/>
              </a:solidFill>
              <a:latin typeface="Red Hat Display Bold"/>
              <a:ea typeface="Red Hat Display Bold"/>
              <a:cs typeface="Red Hat Display Bold"/>
              <a:sym typeface="Red Hat Display 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TextBox 2"/>
          <p:cNvSpPr txBox="1"/>
          <p:nvPr/>
        </p:nvSpPr>
        <p:spPr>
          <a:xfrm>
            <a:off x="4264475" y="1430836"/>
            <a:ext cx="9759051" cy="728158"/>
          </a:xfrm>
          <a:prstGeom prst="rect">
            <a:avLst/>
          </a:prstGeom>
        </p:spPr>
        <p:txBody>
          <a:bodyPr lIns="0" tIns="0" rIns="0" bIns="0" rtlCol="0" anchor="t">
            <a:spAutoFit/>
          </a:bodyPr>
          <a:lstStyle/>
          <a:p>
            <a:pPr algn="ctr">
              <a:lnSpc>
                <a:spcPts val="6065"/>
              </a:lnSpc>
            </a:pPr>
            <a:r>
              <a:rPr lang="en-US" sz="4332" b="1">
                <a:solidFill>
                  <a:srgbClr val="2D2261"/>
                </a:solidFill>
                <a:latin typeface="Red Hat Display Bold"/>
                <a:ea typeface="Red Hat Display Bold"/>
                <a:cs typeface="Red Hat Display Bold"/>
                <a:sym typeface="Red Hat Display Bold"/>
              </a:rPr>
              <a:t>Công cụ hỗ trợ và Editor</a:t>
            </a:r>
          </a:p>
        </p:txBody>
      </p:sp>
      <p:sp>
        <p:nvSpPr>
          <p:cNvPr id="3" name="Freeform 3"/>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4" name="Freeform 4"/>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5" name="Freeform 5"/>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7" name="Group 7"/>
          <p:cNvGrpSpPr/>
          <p:nvPr/>
        </p:nvGrpSpPr>
        <p:grpSpPr>
          <a:xfrm>
            <a:off x="2281895" y="2529972"/>
            <a:ext cx="13280299" cy="5882203"/>
            <a:chOff x="0" y="0"/>
            <a:chExt cx="3497692" cy="1549222"/>
          </a:xfrm>
        </p:grpSpPr>
        <p:sp>
          <p:nvSpPr>
            <p:cNvPr id="8" name="Freeform 8"/>
            <p:cNvSpPr/>
            <p:nvPr/>
          </p:nvSpPr>
          <p:spPr>
            <a:xfrm>
              <a:off x="0" y="0"/>
              <a:ext cx="3497692" cy="1549222"/>
            </a:xfrm>
            <a:custGeom>
              <a:avLst/>
              <a:gdLst/>
              <a:ahLst/>
              <a:cxnLst/>
              <a:rect l="l" t="t" r="r" b="b"/>
              <a:pathLst>
                <a:path w="3497692" h="1549222">
                  <a:moveTo>
                    <a:pt x="17489" y="0"/>
                  </a:moveTo>
                  <a:lnTo>
                    <a:pt x="3480203" y="0"/>
                  </a:lnTo>
                  <a:cubicBezTo>
                    <a:pt x="3484842" y="0"/>
                    <a:pt x="3489290" y="1843"/>
                    <a:pt x="3492569" y="5122"/>
                  </a:cubicBezTo>
                  <a:cubicBezTo>
                    <a:pt x="3495849" y="8402"/>
                    <a:pt x="3497692" y="12851"/>
                    <a:pt x="3497692" y="17489"/>
                  </a:cubicBezTo>
                  <a:lnTo>
                    <a:pt x="3497692" y="1531733"/>
                  </a:lnTo>
                  <a:cubicBezTo>
                    <a:pt x="3497692" y="1536372"/>
                    <a:pt x="3495849" y="1540820"/>
                    <a:pt x="3492569" y="1544100"/>
                  </a:cubicBezTo>
                  <a:cubicBezTo>
                    <a:pt x="3489290" y="1547379"/>
                    <a:pt x="3484842" y="1549222"/>
                    <a:pt x="3480203" y="1549222"/>
                  </a:cubicBezTo>
                  <a:lnTo>
                    <a:pt x="17489" y="1549222"/>
                  </a:lnTo>
                  <a:cubicBezTo>
                    <a:pt x="12851" y="1549222"/>
                    <a:pt x="8402" y="1547379"/>
                    <a:pt x="5122" y="1544100"/>
                  </a:cubicBezTo>
                  <a:cubicBezTo>
                    <a:pt x="1843" y="1540820"/>
                    <a:pt x="0" y="1536372"/>
                    <a:pt x="0" y="1531733"/>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9" name="TextBox 9"/>
            <p:cNvSpPr txBox="1"/>
            <p:nvPr/>
          </p:nvSpPr>
          <p:spPr>
            <a:xfrm>
              <a:off x="0" y="-47625"/>
              <a:ext cx="3497692" cy="1596847"/>
            </a:xfrm>
            <a:prstGeom prst="rect">
              <a:avLst/>
            </a:prstGeom>
          </p:spPr>
          <p:txBody>
            <a:bodyPr lIns="50800" tIns="50800" rIns="50800" bIns="50800" rtlCol="0" anchor="ctr"/>
            <a:lstStyle/>
            <a:p>
              <a:pPr algn="ctr">
                <a:lnSpc>
                  <a:spcPts val="3032"/>
                </a:lnSpc>
              </a:pPr>
              <a:endParaRPr/>
            </a:p>
          </p:txBody>
        </p:sp>
      </p:grpSp>
      <p:sp>
        <p:nvSpPr>
          <p:cNvPr id="10" name="Freeform 10"/>
          <p:cNvSpPr/>
          <p:nvPr/>
        </p:nvSpPr>
        <p:spPr>
          <a:xfrm>
            <a:off x="4264475" y="3185345"/>
            <a:ext cx="3142033" cy="3142033"/>
          </a:xfrm>
          <a:custGeom>
            <a:avLst/>
            <a:gdLst/>
            <a:ahLst/>
            <a:cxnLst/>
            <a:rect l="l" t="t" r="r" b="b"/>
            <a:pathLst>
              <a:path w="3142033" h="3142033">
                <a:moveTo>
                  <a:pt x="0" y="0"/>
                </a:moveTo>
                <a:lnTo>
                  <a:pt x="3142033" y="0"/>
                </a:lnTo>
                <a:lnTo>
                  <a:pt x="3142033" y="3142034"/>
                </a:lnTo>
                <a:lnTo>
                  <a:pt x="0" y="3142034"/>
                </a:lnTo>
                <a:lnTo>
                  <a:pt x="0" y="0"/>
                </a:lnTo>
                <a:close/>
              </a:path>
            </a:pathLst>
          </a:custGeom>
          <a:blipFill>
            <a:blip r:embed="rId10"/>
            <a:stretch>
              <a:fillRect/>
            </a:stretch>
          </a:blipFill>
        </p:spPr>
      </p:sp>
      <p:sp>
        <p:nvSpPr>
          <p:cNvPr id="11" name="Freeform 11"/>
          <p:cNvSpPr/>
          <p:nvPr/>
        </p:nvSpPr>
        <p:spPr>
          <a:xfrm>
            <a:off x="10553535" y="3185345"/>
            <a:ext cx="3113727" cy="3142033"/>
          </a:xfrm>
          <a:custGeom>
            <a:avLst/>
            <a:gdLst/>
            <a:ahLst/>
            <a:cxnLst/>
            <a:rect l="l" t="t" r="r" b="b"/>
            <a:pathLst>
              <a:path w="3113727" h="3142033">
                <a:moveTo>
                  <a:pt x="0" y="0"/>
                </a:moveTo>
                <a:lnTo>
                  <a:pt x="3113727" y="0"/>
                </a:lnTo>
                <a:lnTo>
                  <a:pt x="3113727" y="3142034"/>
                </a:lnTo>
                <a:lnTo>
                  <a:pt x="0" y="3142034"/>
                </a:lnTo>
                <a:lnTo>
                  <a:pt x="0" y="0"/>
                </a:lnTo>
                <a:close/>
              </a:path>
            </a:pathLst>
          </a:custGeom>
          <a:blipFill>
            <a:blip r:embed="rId11"/>
            <a:stretch>
              <a:fillRect/>
            </a:stretch>
          </a:blipFill>
        </p:spPr>
      </p:sp>
      <p:sp>
        <p:nvSpPr>
          <p:cNvPr id="12" name="TextBox 12"/>
          <p:cNvSpPr txBox="1"/>
          <p:nvPr/>
        </p:nvSpPr>
        <p:spPr>
          <a:xfrm>
            <a:off x="4292781" y="6251179"/>
            <a:ext cx="3113727" cy="728158"/>
          </a:xfrm>
          <a:prstGeom prst="rect">
            <a:avLst/>
          </a:prstGeom>
        </p:spPr>
        <p:txBody>
          <a:bodyPr lIns="0" tIns="0" rIns="0" bIns="0" rtlCol="0" anchor="t">
            <a:spAutoFit/>
          </a:bodyPr>
          <a:lstStyle/>
          <a:p>
            <a:pPr algn="ctr">
              <a:lnSpc>
                <a:spcPts val="6065"/>
              </a:lnSpc>
              <a:spcBef>
                <a:spcPct val="0"/>
              </a:spcBef>
            </a:pPr>
            <a:r>
              <a:rPr lang="en-US" sz="4332" b="1">
                <a:solidFill>
                  <a:srgbClr val="FFFFFF"/>
                </a:solidFill>
                <a:latin typeface="Red Hat Display Bold"/>
                <a:ea typeface="Red Hat Display Bold"/>
                <a:cs typeface="Red Hat Display Bold"/>
                <a:sym typeface="Red Hat Display Bold"/>
              </a:rPr>
              <a:t>Hue Editor</a:t>
            </a:r>
          </a:p>
        </p:txBody>
      </p:sp>
      <p:sp>
        <p:nvSpPr>
          <p:cNvPr id="13" name="TextBox 13"/>
          <p:cNvSpPr txBox="1"/>
          <p:nvPr/>
        </p:nvSpPr>
        <p:spPr>
          <a:xfrm>
            <a:off x="10469929" y="6251179"/>
            <a:ext cx="3553596" cy="1490158"/>
          </a:xfrm>
          <a:prstGeom prst="rect">
            <a:avLst/>
          </a:prstGeom>
        </p:spPr>
        <p:txBody>
          <a:bodyPr lIns="0" tIns="0" rIns="0" bIns="0" rtlCol="0" anchor="t">
            <a:spAutoFit/>
          </a:bodyPr>
          <a:lstStyle/>
          <a:p>
            <a:pPr algn="ctr">
              <a:lnSpc>
                <a:spcPts val="6065"/>
              </a:lnSpc>
              <a:spcBef>
                <a:spcPct val="0"/>
              </a:spcBef>
            </a:pPr>
            <a:r>
              <a:rPr lang="en-US" sz="4332" b="1">
                <a:solidFill>
                  <a:srgbClr val="FFFFFF"/>
                </a:solidFill>
                <a:latin typeface="Red Hat Display Bold"/>
                <a:ea typeface="Red Hat Display Bold"/>
                <a:cs typeface="Red Hat Display Bold"/>
                <a:sym typeface="Red Hat Display Bold"/>
              </a:rPr>
              <a:t>Oozie Eclipse Plugin (OEP):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Freeform 2"/>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4" name="Freeform 4"/>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6" name="Group 6"/>
          <p:cNvGrpSpPr/>
          <p:nvPr/>
        </p:nvGrpSpPr>
        <p:grpSpPr>
          <a:xfrm>
            <a:off x="2281895" y="2529972"/>
            <a:ext cx="13280299" cy="6416598"/>
            <a:chOff x="0" y="0"/>
            <a:chExt cx="3497692" cy="1689968"/>
          </a:xfrm>
        </p:grpSpPr>
        <p:sp>
          <p:nvSpPr>
            <p:cNvPr id="7" name="Freeform 7"/>
            <p:cNvSpPr/>
            <p:nvPr/>
          </p:nvSpPr>
          <p:spPr>
            <a:xfrm>
              <a:off x="0" y="0"/>
              <a:ext cx="3497692" cy="1689968"/>
            </a:xfrm>
            <a:custGeom>
              <a:avLst/>
              <a:gdLst/>
              <a:ahLst/>
              <a:cxnLst/>
              <a:rect l="l" t="t" r="r" b="b"/>
              <a:pathLst>
                <a:path w="3497692" h="1689968">
                  <a:moveTo>
                    <a:pt x="17489" y="0"/>
                  </a:moveTo>
                  <a:lnTo>
                    <a:pt x="3480203" y="0"/>
                  </a:lnTo>
                  <a:cubicBezTo>
                    <a:pt x="3484842" y="0"/>
                    <a:pt x="3489290" y="1843"/>
                    <a:pt x="3492569" y="5122"/>
                  </a:cubicBezTo>
                  <a:cubicBezTo>
                    <a:pt x="3495849" y="8402"/>
                    <a:pt x="3497692" y="12851"/>
                    <a:pt x="3497692" y="17489"/>
                  </a:cubicBezTo>
                  <a:lnTo>
                    <a:pt x="3497692" y="1672479"/>
                  </a:lnTo>
                  <a:cubicBezTo>
                    <a:pt x="3497692" y="1677118"/>
                    <a:pt x="3495849" y="1681566"/>
                    <a:pt x="3492569" y="1684846"/>
                  </a:cubicBezTo>
                  <a:cubicBezTo>
                    <a:pt x="3489290" y="1688126"/>
                    <a:pt x="3484842" y="1689968"/>
                    <a:pt x="3480203" y="1689968"/>
                  </a:cubicBezTo>
                  <a:lnTo>
                    <a:pt x="17489" y="1689968"/>
                  </a:lnTo>
                  <a:cubicBezTo>
                    <a:pt x="12851" y="1689968"/>
                    <a:pt x="8402" y="1688126"/>
                    <a:pt x="5122" y="1684846"/>
                  </a:cubicBezTo>
                  <a:cubicBezTo>
                    <a:pt x="1843" y="1681566"/>
                    <a:pt x="0" y="1677118"/>
                    <a:pt x="0" y="1672479"/>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8" name="TextBox 8"/>
            <p:cNvSpPr txBox="1"/>
            <p:nvPr/>
          </p:nvSpPr>
          <p:spPr>
            <a:xfrm>
              <a:off x="0" y="-47625"/>
              <a:ext cx="3497692" cy="1737593"/>
            </a:xfrm>
            <a:prstGeom prst="rect">
              <a:avLst/>
            </a:prstGeom>
          </p:spPr>
          <p:txBody>
            <a:bodyPr lIns="50800" tIns="50800" rIns="50800" bIns="50800" rtlCol="0" anchor="ctr"/>
            <a:lstStyle/>
            <a:p>
              <a:pPr algn="ctr">
                <a:lnSpc>
                  <a:spcPts val="3032"/>
                </a:lnSpc>
              </a:pPr>
              <a:endParaRPr/>
            </a:p>
          </p:txBody>
        </p:sp>
      </p:grpSp>
      <p:sp>
        <p:nvSpPr>
          <p:cNvPr id="9" name="TextBox 9"/>
          <p:cNvSpPr txBox="1"/>
          <p:nvPr/>
        </p:nvSpPr>
        <p:spPr>
          <a:xfrm>
            <a:off x="2624457" y="1601750"/>
            <a:ext cx="12610386" cy="728158"/>
          </a:xfrm>
          <a:prstGeom prst="rect">
            <a:avLst/>
          </a:prstGeom>
        </p:spPr>
        <p:txBody>
          <a:bodyPr lIns="0" tIns="0" rIns="0" bIns="0" rtlCol="0" anchor="t">
            <a:spAutoFit/>
          </a:bodyPr>
          <a:lstStyle/>
          <a:p>
            <a:pPr algn="ctr">
              <a:lnSpc>
                <a:spcPts val="6065"/>
              </a:lnSpc>
              <a:spcBef>
                <a:spcPct val="0"/>
              </a:spcBef>
            </a:pPr>
            <a:r>
              <a:rPr lang="en-US" sz="4332" b="1">
                <a:solidFill>
                  <a:srgbClr val="000000"/>
                </a:solidFill>
                <a:latin typeface="Red Hat Display Bold"/>
                <a:ea typeface="Red Hat Display Bold"/>
                <a:cs typeface="Red Hat Display Bold"/>
                <a:sym typeface="Red Hat Display Bold"/>
              </a:rPr>
              <a:t>Mẹo &amp; Best Practices Khi Sử Dụng Apache Oozie</a:t>
            </a:r>
          </a:p>
        </p:txBody>
      </p:sp>
      <p:sp>
        <p:nvSpPr>
          <p:cNvPr id="10" name="TextBox 10"/>
          <p:cNvSpPr txBox="1"/>
          <p:nvPr/>
        </p:nvSpPr>
        <p:spPr>
          <a:xfrm>
            <a:off x="2624457" y="2764342"/>
            <a:ext cx="12610386" cy="5881182"/>
          </a:xfrm>
          <a:prstGeom prst="rect">
            <a:avLst/>
          </a:prstGeom>
        </p:spPr>
        <p:txBody>
          <a:bodyPr lIns="0" tIns="0" rIns="0" bIns="0" rtlCol="0" anchor="t">
            <a:spAutoFit/>
          </a:bodyPr>
          <a:lstStyle/>
          <a:p>
            <a:pPr algn="just">
              <a:lnSpc>
                <a:spcPts val="4105"/>
              </a:lnSpc>
            </a:pPr>
            <a:r>
              <a:rPr lang="en-US" sz="2932" b="1">
                <a:solidFill>
                  <a:srgbClr val="FFFFFF"/>
                </a:solidFill>
                <a:latin typeface="Red Hat Display Bold"/>
                <a:ea typeface="Red Hat Display Bold"/>
                <a:cs typeface="Red Hat Display Bold"/>
                <a:sym typeface="Red Hat Display Bold"/>
              </a:rPr>
              <a:t>Xử lý phụ thuộc dữ liệu chính xác</a:t>
            </a:r>
          </a:p>
          <a:p>
            <a:pPr marL="589924" lvl="1" indent="-294962" algn="just">
              <a:lnSpc>
                <a:spcPts val="3825"/>
              </a:lnSpc>
              <a:buFont typeface="Arial"/>
              <a:buChar char="•"/>
            </a:pPr>
            <a:r>
              <a:rPr lang="en-US" sz="2732" b="1">
                <a:solidFill>
                  <a:srgbClr val="FFFFFF"/>
                </a:solidFill>
                <a:latin typeface="Red Hat Display Bold"/>
                <a:ea typeface="Red Hat Display Bold"/>
                <a:cs typeface="Red Hat Display Bold"/>
                <a:sym typeface="Red Hat Display Bold"/>
              </a:rPr>
              <a:t>Trong coordinator.xml, đặt initial-instance đúng thời điểm dữ liệu có thật (ví dụ: 2018-06-02T06:10Z).</a:t>
            </a:r>
          </a:p>
          <a:p>
            <a:pPr marL="589924" lvl="1" indent="-294962" algn="just">
              <a:lnSpc>
                <a:spcPts val="3825"/>
              </a:lnSpc>
              <a:buFont typeface="Arial"/>
              <a:buChar char="•"/>
            </a:pPr>
            <a:r>
              <a:rPr lang="en-US" sz="2732" b="1">
                <a:solidFill>
                  <a:srgbClr val="FFFFFF"/>
                </a:solidFill>
                <a:latin typeface="Red Hat Display Bold"/>
                <a:ea typeface="Red Hat Display Bold"/>
                <a:cs typeface="Red Hat Display Bold"/>
                <a:sym typeface="Red Hat Display Bold"/>
              </a:rPr>
              <a:t>Ghi nhớ: Oozie có 2 timeline độc lập – coordinator và dataset.</a:t>
            </a:r>
          </a:p>
          <a:p>
            <a:pPr algn="just">
              <a:lnSpc>
                <a:spcPts val="3825"/>
              </a:lnSpc>
            </a:pPr>
            <a:r>
              <a:rPr lang="en-US" sz="2732" b="1">
                <a:solidFill>
                  <a:srgbClr val="FFFFFF"/>
                </a:solidFill>
                <a:latin typeface="Red Hat Display Bold"/>
                <a:ea typeface="Red Hat Display Bold"/>
                <a:cs typeface="Red Hat Display Bold"/>
                <a:sym typeface="Red Hat Display Bold"/>
              </a:rPr>
              <a:t>       → Đảm bảo mapping đúng để tránh lệch dữ liệu (ví dụ: workflow ngày 05      phụ thuộc dữ liệu ngày 04).</a:t>
            </a:r>
          </a:p>
          <a:p>
            <a:pPr algn="just">
              <a:lnSpc>
                <a:spcPts val="3825"/>
              </a:lnSpc>
            </a:pPr>
            <a:endParaRPr lang="en-US" sz="2732" b="1">
              <a:solidFill>
                <a:srgbClr val="FFFFFF"/>
              </a:solidFill>
              <a:latin typeface="Red Hat Display Bold"/>
              <a:ea typeface="Red Hat Display Bold"/>
              <a:cs typeface="Red Hat Display Bold"/>
              <a:sym typeface="Red Hat Display Bold"/>
            </a:endParaRPr>
          </a:p>
          <a:p>
            <a:pPr algn="just">
              <a:lnSpc>
                <a:spcPts val="4105"/>
              </a:lnSpc>
            </a:pPr>
            <a:r>
              <a:rPr lang="en-US" sz="2932" b="1">
                <a:solidFill>
                  <a:srgbClr val="FFFFFF"/>
                </a:solidFill>
                <a:latin typeface="Red Hat Display Bold"/>
                <a:ea typeface="Red Hat Display Bold"/>
                <a:cs typeface="Red Hat Display Bold"/>
                <a:sym typeface="Red Hat Display Bold"/>
              </a:rPr>
              <a:t>Tránh lỗi timeline</a:t>
            </a:r>
          </a:p>
          <a:p>
            <a:pPr marL="589924" lvl="1" indent="-294962" algn="just">
              <a:lnSpc>
                <a:spcPts val="3825"/>
              </a:lnSpc>
              <a:buFont typeface="Arial"/>
              <a:buChar char="•"/>
            </a:pPr>
            <a:r>
              <a:rPr lang="en-US" sz="2732" b="1">
                <a:solidFill>
                  <a:srgbClr val="FFFFFF"/>
                </a:solidFill>
                <a:latin typeface="Red Hat Display Bold"/>
                <a:ea typeface="Red Hat Display Bold"/>
                <a:cs typeface="Red Hat Display Bold"/>
                <a:sym typeface="Red Hat Display Bold"/>
              </a:rPr>
              <a:t>Dùng công thức:</a:t>
            </a:r>
          </a:p>
          <a:p>
            <a:pPr algn="just">
              <a:lnSpc>
                <a:spcPts val="3825"/>
              </a:lnSpc>
            </a:pPr>
            <a:r>
              <a:rPr lang="en-US" sz="2732" b="1">
                <a:solidFill>
                  <a:srgbClr val="FFFFFF"/>
                </a:solidFill>
                <a:latin typeface="Red Hat Display Bold"/>
                <a:ea typeface="Red Hat Display Bold"/>
                <a:cs typeface="Red Hat Display Bold"/>
                <a:sym typeface="Red Hat Display Bold"/>
              </a:rPr>
              <a:t>        dataset_frequency * n + workflow_timestamp để tính instance.</a:t>
            </a:r>
          </a:p>
          <a:p>
            <a:pPr marL="589924" lvl="1" indent="-294962" algn="just">
              <a:lnSpc>
                <a:spcPts val="3825"/>
              </a:lnSpc>
              <a:buFont typeface="Arial"/>
              <a:buChar char="•"/>
            </a:pPr>
            <a:r>
              <a:rPr lang="en-US" sz="2732" b="1">
                <a:solidFill>
                  <a:srgbClr val="FFFFFF"/>
                </a:solidFill>
                <a:latin typeface="Red Hat Display Bold"/>
                <a:ea typeface="Red Hat Display Bold"/>
                <a:cs typeface="Red Hat Display Bold"/>
                <a:sym typeface="Red Hat Display Bold"/>
              </a:rPr>
              <a:t>Kiểm tra &lt;input-events&gt; với ${coord:current(-1)} để lấy dữ liệu ngày trước.</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Freeform 2"/>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4" name="Freeform 4"/>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6" name="Group 6"/>
          <p:cNvGrpSpPr/>
          <p:nvPr/>
        </p:nvGrpSpPr>
        <p:grpSpPr>
          <a:xfrm>
            <a:off x="2281895" y="2529972"/>
            <a:ext cx="13280299" cy="6416598"/>
            <a:chOff x="0" y="0"/>
            <a:chExt cx="3497692" cy="1689968"/>
          </a:xfrm>
        </p:grpSpPr>
        <p:sp>
          <p:nvSpPr>
            <p:cNvPr id="7" name="Freeform 7"/>
            <p:cNvSpPr/>
            <p:nvPr/>
          </p:nvSpPr>
          <p:spPr>
            <a:xfrm>
              <a:off x="0" y="0"/>
              <a:ext cx="3497692" cy="1689968"/>
            </a:xfrm>
            <a:custGeom>
              <a:avLst/>
              <a:gdLst/>
              <a:ahLst/>
              <a:cxnLst/>
              <a:rect l="l" t="t" r="r" b="b"/>
              <a:pathLst>
                <a:path w="3497692" h="1689968">
                  <a:moveTo>
                    <a:pt x="17489" y="0"/>
                  </a:moveTo>
                  <a:lnTo>
                    <a:pt x="3480203" y="0"/>
                  </a:lnTo>
                  <a:cubicBezTo>
                    <a:pt x="3484842" y="0"/>
                    <a:pt x="3489290" y="1843"/>
                    <a:pt x="3492569" y="5122"/>
                  </a:cubicBezTo>
                  <a:cubicBezTo>
                    <a:pt x="3495849" y="8402"/>
                    <a:pt x="3497692" y="12851"/>
                    <a:pt x="3497692" y="17489"/>
                  </a:cubicBezTo>
                  <a:lnTo>
                    <a:pt x="3497692" y="1672479"/>
                  </a:lnTo>
                  <a:cubicBezTo>
                    <a:pt x="3497692" y="1677118"/>
                    <a:pt x="3495849" y="1681566"/>
                    <a:pt x="3492569" y="1684846"/>
                  </a:cubicBezTo>
                  <a:cubicBezTo>
                    <a:pt x="3489290" y="1688126"/>
                    <a:pt x="3484842" y="1689968"/>
                    <a:pt x="3480203" y="1689968"/>
                  </a:cubicBezTo>
                  <a:lnTo>
                    <a:pt x="17489" y="1689968"/>
                  </a:lnTo>
                  <a:cubicBezTo>
                    <a:pt x="12851" y="1689968"/>
                    <a:pt x="8402" y="1688126"/>
                    <a:pt x="5122" y="1684846"/>
                  </a:cubicBezTo>
                  <a:cubicBezTo>
                    <a:pt x="1843" y="1681566"/>
                    <a:pt x="0" y="1677118"/>
                    <a:pt x="0" y="1672479"/>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8" name="TextBox 8"/>
            <p:cNvSpPr txBox="1"/>
            <p:nvPr/>
          </p:nvSpPr>
          <p:spPr>
            <a:xfrm>
              <a:off x="0" y="-47625"/>
              <a:ext cx="3497692" cy="1737593"/>
            </a:xfrm>
            <a:prstGeom prst="rect">
              <a:avLst/>
            </a:prstGeom>
          </p:spPr>
          <p:txBody>
            <a:bodyPr lIns="50800" tIns="50800" rIns="50800" bIns="50800" rtlCol="0" anchor="ctr"/>
            <a:lstStyle/>
            <a:p>
              <a:pPr algn="ctr">
                <a:lnSpc>
                  <a:spcPts val="3032"/>
                </a:lnSpc>
              </a:pPr>
              <a:endParaRPr/>
            </a:p>
          </p:txBody>
        </p:sp>
      </p:grpSp>
      <p:sp>
        <p:nvSpPr>
          <p:cNvPr id="9" name="TextBox 9"/>
          <p:cNvSpPr txBox="1"/>
          <p:nvPr/>
        </p:nvSpPr>
        <p:spPr>
          <a:xfrm>
            <a:off x="2624457" y="1601750"/>
            <a:ext cx="12610386" cy="728158"/>
          </a:xfrm>
          <a:prstGeom prst="rect">
            <a:avLst/>
          </a:prstGeom>
        </p:spPr>
        <p:txBody>
          <a:bodyPr lIns="0" tIns="0" rIns="0" bIns="0" rtlCol="0" anchor="t">
            <a:spAutoFit/>
          </a:bodyPr>
          <a:lstStyle/>
          <a:p>
            <a:pPr algn="ctr">
              <a:lnSpc>
                <a:spcPts val="6065"/>
              </a:lnSpc>
              <a:spcBef>
                <a:spcPct val="0"/>
              </a:spcBef>
            </a:pPr>
            <a:r>
              <a:rPr lang="en-US" sz="4332" b="1">
                <a:solidFill>
                  <a:srgbClr val="000000"/>
                </a:solidFill>
                <a:latin typeface="Red Hat Display Bold"/>
                <a:ea typeface="Red Hat Display Bold"/>
                <a:cs typeface="Red Hat Display Bold"/>
                <a:sym typeface="Red Hat Display Bold"/>
              </a:rPr>
              <a:t>Mẹo &amp; Best Practices Khi Sử Dụng Apache Oozie</a:t>
            </a:r>
          </a:p>
        </p:txBody>
      </p:sp>
      <p:sp>
        <p:nvSpPr>
          <p:cNvPr id="10" name="TextBox 10"/>
          <p:cNvSpPr txBox="1"/>
          <p:nvPr/>
        </p:nvSpPr>
        <p:spPr>
          <a:xfrm>
            <a:off x="2624457" y="3632734"/>
            <a:ext cx="12610386" cy="3592642"/>
          </a:xfrm>
          <a:prstGeom prst="rect">
            <a:avLst/>
          </a:prstGeom>
        </p:spPr>
        <p:txBody>
          <a:bodyPr lIns="0" tIns="0" rIns="0" bIns="0" rtlCol="0" anchor="t">
            <a:spAutoFit/>
          </a:bodyPr>
          <a:lstStyle/>
          <a:p>
            <a:pPr algn="just">
              <a:lnSpc>
                <a:spcPts val="4105"/>
              </a:lnSpc>
            </a:pPr>
            <a:r>
              <a:rPr lang="en-US" sz="2932" b="1">
                <a:solidFill>
                  <a:srgbClr val="FFFFFF"/>
                </a:solidFill>
                <a:latin typeface="Red Hat Display Bold"/>
                <a:ea typeface="Red Hat Display Bold"/>
                <a:cs typeface="Red Hat Display Bold"/>
                <a:sym typeface="Red Hat Display Bold"/>
              </a:rPr>
              <a:t>Gỡ lỗi hiệu quả</a:t>
            </a:r>
          </a:p>
          <a:p>
            <a:pPr marL="633102" lvl="1" indent="-316551" algn="just">
              <a:lnSpc>
                <a:spcPts val="4105"/>
              </a:lnSpc>
              <a:buFont typeface="Arial"/>
              <a:buChar char="•"/>
            </a:pPr>
            <a:r>
              <a:rPr lang="en-US" sz="2932" b="1">
                <a:solidFill>
                  <a:srgbClr val="FFFFFF"/>
                </a:solidFill>
                <a:latin typeface="Red Hat Display Bold"/>
                <a:ea typeface="Red Hat Display Bold"/>
                <a:cs typeface="Red Hat Display Bold"/>
                <a:sym typeface="Red Hat Display Bold"/>
              </a:rPr>
              <a:t>Thêm &lt;done-flag&gt; trong dataset để đánh dấu dữ liệu đã sẵn sàng.</a:t>
            </a:r>
          </a:p>
          <a:p>
            <a:pPr marL="633102" lvl="1" indent="-316551" algn="just">
              <a:lnSpc>
                <a:spcPts val="4105"/>
              </a:lnSpc>
              <a:buFont typeface="Arial"/>
              <a:buChar char="•"/>
            </a:pPr>
            <a:r>
              <a:rPr lang="en-US" sz="2932" b="1">
                <a:solidFill>
                  <a:srgbClr val="FFFFFF"/>
                </a:solidFill>
                <a:latin typeface="Red Hat Display Bold"/>
                <a:ea typeface="Red Hat Display Bold"/>
                <a:cs typeface="Red Hat Display Bold"/>
                <a:sym typeface="Red Hat Display Bold"/>
              </a:rPr>
              <a:t>Nếu workflow chạy sớm → kiểm tra lại initial-instance và frequency.</a:t>
            </a:r>
          </a:p>
          <a:p>
            <a:pPr algn="just">
              <a:lnSpc>
                <a:spcPts val="4105"/>
              </a:lnSpc>
            </a:pPr>
            <a:endParaRPr lang="en-US" sz="2932" b="1">
              <a:solidFill>
                <a:srgbClr val="FFFFFF"/>
              </a:solidFill>
              <a:latin typeface="Red Hat Display Bold"/>
              <a:ea typeface="Red Hat Display Bold"/>
              <a:cs typeface="Red Hat Display Bold"/>
              <a:sym typeface="Red Hat Display Bold"/>
            </a:endParaRPr>
          </a:p>
          <a:p>
            <a:pPr algn="just">
              <a:lnSpc>
                <a:spcPts val="4105"/>
              </a:lnSpc>
            </a:pPr>
            <a:r>
              <a:rPr lang="en-US" sz="2932" b="1">
                <a:solidFill>
                  <a:srgbClr val="FFFFFF"/>
                </a:solidFill>
                <a:latin typeface="Red Hat Display Bold"/>
                <a:ea typeface="Red Hat Display Bold"/>
                <a:cs typeface="Red Hat Display Bold"/>
                <a:sym typeface="Red Hat Display Bold"/>
              </a:rPr>
              <a:t>Tài liệu tham khảo</a:t>
            </a:r>
          </a:p>
          <a:p>
            <a:pPr marL="633102" lvl="1" indent="-316551" algn="just">
              <a:lnSpc>
                <a:spcPts val="4105"/>
              </a:lnSpc>
              <a:buFont typeface="Arial"/>
              <a:buChar char="•"/>
            </a:pPr>
            <a:r>
              <a:rPr lang="en-US" sz="2932" b="1">
                <a:solidFill>
                  <a:srgbClr val="FFFFFF"/>
                </a:solidFill>
                <a:latin typeface="Red Hat Display Bold"/>
                <a:ea typeface="Red Hat Display Bold"/>
                <a:cs typeface="Red Hat Display Bold"/>
                <a:sym typeface="Red Hat Display Bold"/>
              </a:rPr>
              <a:t>“Apache Oozie: The Workflow Scheduler for Hadoop” – O’Reilly giúp hiểu sâu về cơ chế nội bộ và thực hành nâng cao.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Freeform 2"/>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4" name="Freeform 4"/>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6" name="Group 6"/>
          <p:cNvGrpSpPr/>
          <p:nvPr/>
        </p:nvGrpSpPr>
        <p:grpSpPr>
          <a:xfrm>
            <a:off x="2281895" y="3242499"/>
            <a:ext cx="13280299" cy="4034087"/>
            <a:chOff x="0" y="0"/>
            <a:chExt cx="3497692" cy="1062475"/>
          </a:xfrm>
        </p:grpSpPr>
        <p:sp>
          <p:nvSpPr>
            <p:cNvPr id="7" name="Freeform 7"/>
            <p:cNvSpPr/>
            <p:nvPr/>
          </p:nvSpPr>
          <p:spPr>
            <a:xfrm>
              <a:off x="0" y="0"/>
              <a:ext cx="3497692" cy="1062475"/>
            </a:xfrm>
            <a:custGeom>
              <a:avLst/>
              <a:gdLst/>
              <a:ahLst/>
              <a:cxnLst/>
              <a:rect l="l" t="t" r="r" b="b"/>
              <a:pathLst>
                <a:path w="3497692" h="1062475">
                  <a:moveTo>
                    <a:pt x="17489" y="0"/>
                  </a:moveTo>
                  <a:lnTo>
                    <a:pt x="3480203" y="0"/>
                  </a:lnTo>
                  <a:cubicBezTo>
                    <a:pt x="3484842" y="0"/>
                    <a:pt x="3489290" y="1843"/>
                    <a:pt x="3492569" y="5122"/>
                  </a:cubicBezTo>
                  <a:cubicBezTo>
                    <a:pt x="3495849" y="8402"/>
                    <a:pt x="3497692" y="12851"/>
                    <a:pt x="3497692" y="17489"/>
                  </a:cubicBezTo>
                  <a:lnTo>
                    <a:pt x="3497692" y="1044987"/>
                  </a:lnTo>
                  <a:cubicBezTo>
                    <a:pt x="3497692" y="1049625"/>
                    <a:pt x="3495849" y="1054073"/>
                    <a:pt x="3492569" y="1057353"/>
                  </a:cubicBezTo>
                  <a:cubicBezTo>
                    <a:pt x="3489290" y="1060633"/>
                    <a:pt x="3484842" y="1062475"/>
                    <a:pt x="3480203" y="1062475"/>
                  </a:cubicBezTo>
                  <a:lnTo>
                    <a:pt x="17489" y="1062475"/>
                  </a:lnTo>
                  <a:cubicBezTo>
                    <a:pt x="12851" y="1062475"/>
                    <a:pt x="8402" y="1060633"/>
                    <a:pt x="5122" y="1057353"/>
                  </a:cubicBezTo>
                  <a:cubicBezTo>
                    <a:pt x="1843" y="1054073"/>
                    <a:pt x="0" y="1049625"/>
                    <a:pt x="0" y="1044987"/>
                  </a:cubicBezTo>
                  <a:lnTo>
                    <a:pt x="0" y="17489"/>
                  </a:lnTo>
                  <a:cubicBezTo>
                    <a:pt x="0" y="12851"/>
                    <a:pt x="1843" y="8402"/>
                    <a:pt x="5122" y="5122"/>
                  </a:cubicBezTo>
                  <a:cubicBezTo>
                    <a:pt x="8402" y="1843"/>
                    <a:pt x="12851" y="0"/>
                    <a:pt x="17489" y="0"/>
                  </a:cubicBezTo>
                  <a:close/>
                </a:path>
              </a:pathLst>
            </a:custGeom>
            <a:solidFill>
              <a:srgbClr val="5B7ABE"/>
            </a:solidFill>
          </p:spPr>
        </p:sp>
        <p:sp>
          <p:nvSpPr>
            <p:cNvPr id="8" name="TextBox 8"/>
            <p:cNvSpPr txBox="1"/>
            <p:nvPr/>
          </p:nvSpPr>
          <p:spPr>
            <a:xfrm>
              <a:off x="0" y="-47625"/>
              <a:ext cx="3497692" cy="1110100"/>
            </a:xfrm>
            <a:prstGeom prst="rect">
              <a:avLst/>
            </a:prstGeom>
          </p:spPr>
          <p:txBody>
            <a:bodyPr lIns="50800" tIns="50800" rIns="50800" bIns="50800" rtlCol="0" anchor="ctr"/>
            <a:lstStyle/>
            <a:p>
              <a:pPr algn="ctr">
                <a:lnSpc>
                  <a:spcPts val="3032"/>
                </a:lnSpc>
              </a:pPr>
              <a:endParaRPr/>
            </a:p>
          </p:txBody>
        </p:sp>
      </p:grpSp>
      <p:sp>
        <p:nvSpPr>
          <p:cNvPr id="9" name="TextBox 9"/>
          <p:cNvSpPr txBox="1"/>
          <p:nvPr/>
        </p:nvSpPr>
        <p:spPr>
          <a:xfrm>
            <a:off x="7363204" y="2072562"/>
            <a:ext cx="3132892" cy="853254"/>
          </a:xfrm>
          <a:prstGeom prst="rect">
            <a:avLst/>
          </a:prstGeom>
        </p:spPr>
        <p:txBody>
          <a:bodyPr lIns="0" tIns="0" rIns="0" bIns="0" rtlCol="0" anchor="t">
            <a:spAutoFit/>
          </a:bodyPr>
          <a:lstStyle/>
          <a:p>
            <a:pPr algn="ctr">
              <a:lnSpc>
                <a:spcPts val="7045"/>
              </a:lnSpc>
              <a:spcBef>
                <a:spcPct val="0"/>
              </a:spcBef>
            </a:pPr>
            <a:r>
              <a:rPr lang="en-US" sz="5032" b="1">
                <a:solidFill>
                  <a:srgbClr val="000000"/>
                </a:solidFill>
                <a:latin typeface="Red Hat Display Bold"/>
                <a:ea typeface="Red Hat Display Bold"/>
                <a:cs typeface="Red Hat Display Bold"/>
                <a:sym typeface="Red Hat Display Bold"/>
              </a:rPr>
              <a:t>KẾT LUẬN</a:t>
            </a:r>
          </a:p>
        </p:txBody>
      </p:sp>
      <p:sp>
        <p:nvSpPr>
          <p:cNvPr id="10" name="TextBox 10"/>
          <p:cNvSpPr txBox="1"/>
          <p:nvPr/>
        </p:nvSpPr>
        <p:spPr>
          <a:xfrm>
            <a:off x="2616852" y="3687058"/>
            <a:ext cx="12610386" cy="3078292"/>
          </a:xfrm>
          <a:prstGeom prst="rect">
            <a:avLst/>
          </a:prstGeom>
        </p:spPr>
        <p:txBody>
          <a:bodyPr lIns="0" tIns="0" rIns="0" bIns="0" rtlCol="0" anchor="t">
            <a:spAutoFit/>
          </a:bodyPr>
          <a:lstStyle/>
          <a:p>
            <a:pPr marL="633102" lvl="1" indent="-316551" algn="just">
              <a:lnSpc>
                <a:spcPts val="4105"/>
              </a:lnSpc>
              <a:buFont typeface="Arial"/>
              <a:buChar char="•"/>
            </a:pPr>
            <a:r>
              <a:rPr lang="en-US" sz="2932" b="1">
                <a:solidFill>
                  <a:srgbClr val="FFFFFF"/>
                </a:solidFill>
                <a:latin typeface="Red Hat Display Bold"/>
                <a:ea typeface="Red Hat Display Bold"/>
                <a:cs typeface="Red Hat Display Bold"/>
                <a:sym typeface="Red Hat Display Bold"/>
              </a:rPr>
              <a:t>Apache Oozie là công cụ quản lý và lập lịch workflow quan trọng trong hệ sinh thái Hadoop.</a:t>
            </a:r>
          </a:p>
          <a:p>
            <a:pPr marL="633102" lvl="1" indent="-316551" algn="just">
              <a:lnSpc>
                <a:spcPts val="4105"/>
              </a:lnSpc>
              <a:buFont typeface="Arial"/>
              <a:buChar char="•"/>
            </a:pPr>
            <a:r>
              <a:rPr lang="en-US" sz="2932" b="1">
                <a:solidFill>
                  <a:srgbClr val="FFFFFF"/>
                </a:solidFill>
                <a:latin typeface="Red Hat Display Bold"/>
                <a:ea typeface="Red Hat Display Bold"/>
                <a:cs typeface="Red Hat Display Bold"/>
                <a:sym typeface="Red Hat Display Bold"/>
              </a:rPr>
              <a:t>Giúp tự động hóa các quy trình phức tạp, đảm bảo độ tin cậy, khả năng mở rộng và linh hoạt cao.</a:t>
            </a:r>
          </a:p>
          <a:p>
            <a:pPr marL="633102" lvl="1" indent="-316551" algn="just">
              <a:lnSpc>
                <a:spcPts val="4105"/>
              </a:lnSpc>
              <a:buFont typeface="Arial"/>
              <a:buChar char="•"/>
            </a:pPr>
            <a:r>
              <a:rPr lang="en-US" sz="2932" b="1">
                <a:solidFill>
                  <a:srgbClr val="FFFFFF"/>
                </a:solidFill>
                <a:latin typeface="Red Hat Display Bold"/>
                <a:ea typeface="Red Hat Display Bold"/>
                <a:cs typeface="Red Hat Display Bold"/>
                <a:sym typeface="Red Hat Display Bold"/>
              </a:rPr>
              <a:t>Tích hợp sâu với các công cụ Big Data như Hive, Pig, Spark, Sqoop, MapReduce.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CFE"/>
        </a:solidFill>
        <a:effectLst/>
      </p:bgPr>
    </p:bg>
    <p:spTree>
      <p:nvGrpSpPr>
        <p:cNvPr id="1" name=""/>
        <p:cNvGrpSpPr/>
        <p:nvPr/>
      </p:nvGrpSpPr>
      <p:grpSpPr>
        <a:xfrm>
          <a:off x="0" y="0"/>
          <a:ext cx="0" cy="0"/>
          <a:chOff x="0" y="0"/>
          <a:chExt cx="0" cy="0"/>
        </a:xfrm>
      </p:grpSpPr>
      <p:sp>
        <p:nvSpPr>
          <p:cNvPr id="2" name="Freeform 2"/>
          <p:cNvSpPr/>
          <p:nvPr/>
        </p:nvSpPr>
        <p:spPr>
          <a:xfrm rot="-2080684">
            <a:off x="10082077" y="8242051"/>
            <a:ext cx="10960234" cy="7472887"/>
          </a:xfrm>
          <a:custGeom>
            <a:avLst/>
            <a:gdLst/>
            <a:ahLst/>
            <a:cxnLst/>
            <a:rect l="l" t="t" r="r" b="b"/>
            <a:pathLst>
              <a:path w="10960234" h="7472887">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a:stretch>
          </a:blipFill>
        </p:spPr>
      </p:sp>
      <p:sp>
        <p:nvSpPr>
          <p:cNvPr id="3" name="Freeform 3"/>
          <p:cNvSpPr/>
          <p:nvPr/>
        </p:nvSpPr>
        <p:spPr>
          <a:xfrm rot="9426524">
            <a:off x="-3984660" y="-4765086"/>
            <a:ext cx="9442126" cy="8000056"/>
          </a:xfrm>
          <a:custGeom>
            <a:avLst/>
            <a:gdLst/>
            <a:ahLst/>
            <a:cxnLst/>
            <a:rect l="l" t="t" r="r" b="b"/>
            <a:pathLst>
              <a:path w="9442126" h="800005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a:stretch>
          </a:blipFill>
        </p:spPr>
      </p:sp>
      <p:sp>
        <p:nvSpPr>
          <p:cNvPr id="4" name="Freeform 4"/>
          <p:cNvSpPr/>
          <p:nvPr/>
        </p:nvSpPr>
        <p:spPr>
          <a:xfrm rot="-2624874">
            <a:off x="-884948" y="9077955"/>
            <a:ext cx="3242701" cy="1827704"/>
          </a:xfrm>
          <a:custGeom>
            <a:avLst/>
            <a:gdLst/>
            <a:ahLst/>
            <a:cxnLst/>
            <a:rect l="l" t="t" r="r" b="b"/>
            <a:pathLst>
              <a:path w="3242701" h="1827704">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rot="2830696">
            <a:off x="16075185" y="-1028700"/>
            <a:ext cx="2835471" cy="4114800"/>
          </a:xfrm>
          <a:custGeom>
            <a:avLst/>
            <a:gdLst/>
            <a:ahLst/>
            <a:cxnLst/>
            <a:rect l="l" t="t" r="r" b="b"/>
            <a:pathLst>
              <a:path w="2835471" h="4114800">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4678501" y="4413757"/>
            <a:ext cx="8930997" cy="994859"/>
          </a:xfrm>
          <a:prstGeom prst="rect">
            <a:avLst/>
          </a:prstGeom>
        </p:spPr>
        <p:txBody>
          <a:bodyPr lIns="0" tIns="0" rIns="0" bIns="0" rtlCol="0" anchor="t">
            <a:spAutoFit/>
          </a:bodyPr>
          <a:lstStyle/>
          <a:p>
            <a:pPr algn="ctr">
              <a:lnSpc>
                <a:spcPts val="8165"/>
              </a:lnSpc>
              <a:spcBef>
                <a:spcPct val="0"/>
              </a:spcBef>
            </a:pPr>
            <a:r>
              <a:rPr lang="en-US" sz="5832" b="1">
                <a:solidFill>
                  <a:srgbClr val="000000"/>
                </a:solidFill>
                <a:latin typeface="Red Hat Display Bold"/>
                <a:ea typeface="Red Hat Display Bold"/>
                <a:cs typeface="Red Hat Display Bold"/>
                <a:sym typeface="Red Hat Display Bold"/>
              </a:rPr>
              <a:t>THANKS FOR LISTENING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1127</Words>
  <Application>Microsoft Office PowerPoint</Application>
  <PresentationFormat>Custom</PresentationFormat>
  <Paragraphs>108</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Red Hat Display</vt:lpstr>
      <vt:lpstr>Calibri</vt:lpstr>
      <vt:lpstr>Red Hat Display Bold</vt:lpstr>
      <vt:lpstr>Roboto Slab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OOZIE</dc:title>
  <cp:lastModifiedBy>Lâm Hào</cp:lastModifiedBy>
  <cp:revision>2</cp:revision>
  <dcterms:created xsi:type="dcterms:W3CDTF">2006-08-16T00:00:00Z</dcterms:created>
  <dcterms:modified xsi:type="dcterms:W3CDTF">2025-10-10T14:52:22Z</dcterms:modified>
  <dc:identifier>DAG1ZJXq6gc</dc:identifier>
</cp:coreProperties>
</file>